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80" r:id="rId3"/>
    <p:sldId id="256" r:id="rId4"/>
    <p:sldId id="257" r:id="rId6"/>
    <p:sldId id="259" r:id="rId7"/>
    <p:sldId id="282" r:id="rId8"/>
    <p:sldId id="261" r:id="rId9"/>
    <p:sldId id="263" r:id="rId10"/>
    <p:sldId id="266" r:id="rId11"/>
    <p:sldId id="267" r:id="rId12"/>
    <p:sldId id="268" r:id="rId13"/>
    <p:sldId id="284" r:id="rId14"/>
    <p:sldId id="285" r:id="rId15"/>
    <p:sldId id="269" r:id="rId16"/>
    <p:sldId id="286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F5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本次调研按照两条主线组织：第一，单 FPGA 是否能够独立完成 LLM 推理；第二，FPGA 与 GPU 如何通过不同协作粒度获得系统收益。</a:t>
            </a:r>
          </a:p>
          <a:p/>
          <a:p>
            <a:r>
              <a:t>[Sources]</a:t>
            </a:r>
          </a:p>
          <a:p>
            <a:r>
              <a:t>- E:\学习历程\FPGA\FPGA调研.md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这一页给出整个汇报的目录。混合架构中，算子级协作是把明确的内存受限算子交给 FPGA；阶段级协作则把 prefill/decode 或 draft/verify 作为较大的任务单元切分。</a:t>
            </a:r>
          </a:p>
          <a:p/>
          <a:p>
            <a:r>
              <a:t>[Sources]</a:t>
            </a:r>
          </a:p>
          <a:p>
            <a:r>
              <a:t>- E:\学习历程\FPGA\FPGA调研.md</a:t>
            </a:r>
          </a:p>
          <a:p>
            <a:r>
              <a:t>- E:\学习历程\FPGA\papers\Understand and Accelerate Memory Processing Pipeline for Large Language Model Inference.pdf</a:t>
            </a:r>
          </a:p>
          <a:p>
            <a:r>
              <a:t>- E:\学习历程\FPGA\papers\A Persistent-State Dataflow Accelerator for Memory-Bound Linear Attention Decode on FPGA.pdf</a:t>
            </a:r>
          </a:p>
          <a:p>
            <a:r>
              <a:t>- E:\学习历程\FPGA\papers\DFVG-A Heterogeneous Architecture for SpeculativeDecoding with Draft-on-FPGA and Verify-on-GPU.pdf</a:t>
            </a:r>
          </a:p>
          <a:p>
            <a:r>
              <a:t>- E:\学习历程\FPGA\papers\GLITCHES-GPU-FPGA LLM Inference Through a C ollaborative Heterogeneous System.pdf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从多板完整推理，到空间数据流、嵌入式低成本部署：核心始终是把每 token 的数据搬运压到带宽预算内。</a:t>
            </a:r>
          </a:p>
          <a:p/>
          <a:p>
            <a:r>
              <a:t>[Sources]</a:t>
            </a:r>
          </a:p>
          <a:p>
            <a:r>
              <a:t>- E:\学习历程\FPGA\FPGA调研.md</a:t>
            </a:r>
          </a:p>
          <a:p>
            <a:r>
              <a:t>- E:\学习历程\FPGA\papers\DFX-A Low-latency Multi-FPGA Appliance for Accelerating Transformer-based Text Generation.pdf</a:t>
            </a:r>
          </a:p>
          <a:p>
            <a:r>
              <a:t>- E:\学习历程\FPGA\papers\Understanding the Potential of FPGA-Based Spatial Acceleration for Large Language Model Inference.pdf</a:t>
            </a:r>
          </a:p>
          <a:p>
            <a:r>
              <a:t>- E:\学习历程\FPGA\papers\Hummingbird-A Smaller and Faster Large Language Model Accelerator on Embedded FPGA.pdf</a:t>
            </a:r>
          </a:p>
          <a:p>
            <a:r>
              <a:t>- E:\学习历程\FPGA\papers\Hummingbird+-Advancing FPGA-based LLM Deployment from Research Prototype to Edge Product.pdf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DFX 是完整推理路线的早期代表：通过四块 U280 和模型并行跑 GPT-2。它证明 FPGA appliance 能获得吞吐、能效和成本优势，但同时暴露跨板同步导致扩展效率下降。</a:t>
            </a:r>
          </a:p>
          <a:p/>
          <a:p>
            <a:r>
              <a:t>[Sources]</a:t>
            </a:r>
          </a:p>
          <a:p>
            <a:r>
              <a:t>- E:\学习历程\FPGA\papers\DFX-A Low-latency Multi-FPGA Appliance for Accelerating Transformer-based Text Generation.pdf</a:t>
            </a:r>
          </a:p>
          <a:p>
            <a:r>
              <a:t>- E:\学习历程\FPGA\FPGA调研.md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Hummingbird 的贡献是资源效率而非绝对峰值：通过 DSP 链、GQA 数据流和分层存储，让小型嵌入式 FPGA 以接近理论带宽上限的效率完成 8B 模型 decode。</a:t>
            </a:r>
          </a:p>
          <a:p/>
          <a:p>
            <a:r>
              <a:t>[Sources]</a:t>
            </a:r>
          </a:p>
          <a:p>
            <a:r>
              <a:t>- E:\学习历程\FPGA\papers\Hummingbird-A Smaller and Faster Large Language Model Accelerator on Embedded FPGA.pdf</a:t>
            </a:r>
          </a:p>
          <a:p>
            <a:r>
              <a:t>- E:\学习历程\FPGA\FPGA调研.md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GPU 保留高算力与成熟软件栈，FPGA 接管更规则、更内存受限或需要常驻状态的部分；关键是选择协作粒度。</a:t>
            </a:r>
          </a:p>
          <a:p/>
          <a:p>
            <a:r>
              <a:t>[Sources]</a:t>
            </a:r>
          </a:p>
          <a:p>
            <a:r>
              <a:t>- E:\学习历程\FPGA\FPGA调研.md</a:t>
            </a:r>
          </a:p>
          <a:p>
            <a:r>
              <a:t>- E:\学习历程\FPGA\papers\Understand and Accelerate Memory Processing Pipeline for Large Language Model Inference.pdf</a:t>
            </a:r>
          </a:p>
          <a:p>
            <a:r>
              <a:t>- E:\学习历程\FPGA\papers\A Persistent-State Dataflow Accelerator for Memory-Bound Linear Attention Decode on FPGA.pdf</a:t>
            </a:r>
          </a:p>
          <a:p>
            <a:r>
              <a:t>- E:\学习历程\FPGA\papers\DFVG-A Heterogeneous Architecture for SpeculativeDecoding with Draft-on-FPGA and Verify-on-GPU.pdf</a:t>
            </a:r>
          </a:p>
          <a:p>
            <a:r>
              <a:t>- E:\学习历程\FPGA\papers\GLITCHES-GPU-FPGA LLM Inference Through a C ollaborative Heterogeneous System.pdf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这页是混合架构部分的核心分类。算子级由特定数据流和状态复用驱动；阶段级由算法流程的自然边界驱动。两者的通信频率、状态规模和调度问题不同。</a:t>
            </a:r>
          </a:p>
          <a:p/>
          <a:p>
            <a:r>
              <a:t>[Sources]</a:t>
            </a:r>
          </a:p>
          <a:p>
            <a:r>
              <a:t>- E:\学习历程\FPGA\FPGA调研.md</a:t>
            </a:r>
          </a:p>
          <a:p>
            <a:r>
              <a:t>- E:\学习历程\FPGA\papers\Understand and Accelerate Memory Processing Pipeline for Large Language Model Inference.pdf</a:t>
            </a:r>
          </a:p>
          <a:p>
            <a:r>
              <a:t>- E:\学习历程\FPGA\papers\A Persistent-State Dataflow Accelerator for Memory-Bound Linear Attention Decode on FPGA.pdf</a:t>
            </a:r>
          </a:p>
          <a:p>
            <a:r>
              <a:t>- E:\学习历程\FPGA\papers\DFVG-A Heterogeneous Architecture for SpeculativeDecoding with Draft-on-FPGA and Verify-on-GPU.pdf</a:t>
            </a:r>
          </a:p>
          <a:p>
            <a:r>
              <a:t>- E:\学习历程\FPGA\papers\GLITCHES-GPU-FPGA LLM Inference Through a C ollaborative Heterogeneous System.pdf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这篇论文把稀疏注意力、RAG、MemAgent 和 Memory-as-Context 统一抽象为四阶段 memory processing pipeline。它不是简单把矩阵乘搬到 FPGA，而是围绕数据准备、相关性、检索与应用划分职责。</a:t>
            </a:r>
          </a:p>
          <a:p/>
          <a:p>
            <a:r>
              <a:t>[Sources]</a:t>
            </a:r>
          </a:p>
          <a:p>
            <a:r>
              <a:t>- E:\学习历程\FPGA\papers\Understand and Accelerate Memory Processing Pipeline for Large Language Model Inference.pdf</a:t>
            </a:r>
          </a:p>
          <a:p>
            <a:r>
              <a:t>- E:\学习历程\FPGA\FPGA调研.md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General Setup 最能代表算子级协作：FPGA 保存压缩索引并完成相关性与检索，只把索引返回 GPU。论文也探索 MemAgent 和 Memory-as-Context；batch 增大后 FPGA decode 优势消失，因此需要动态回退。</a:t>
            </a:r>
          </a:p>
          <a:p/>
          <a:p>
            <a:r>
              <a:t>[Sources]</a:t>
            </a:r>
          </a:p>
          <a:p>
            <a:r>
              <a:t>- E:\学习历程\FPGA\papers\Understand and Accelerate Memory Processing Pipeline for Large Language Model Inference.pdf</a:t>
            </a:r>
          </a:p>
          <a:p>
            <a:r>
              <a:t>- E:\学习历程\FPGA\FPGA调研.md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这篇论文研究的是单个 persistent-state GDN 层，而非完整 LLM。它的适配性来自状态可以长期驻留在 FPGA 片上存储，避免 GPU 每 token 对 2 MiB 状态的往返读写。</a:t>
            </a:r>
          </a:p>
          <a:p/>
          <a:p>
            <a:r>
              <a:t>[Sources]</a:t>
            </a:r>
          </a:p>
          <a:p>
            <a:r>
              <a:t>- E:\学习历程\FPGA\papers\A Persistent-State Dataflow Accelerator for Memory-Bound Linear Attention Decode on FPGA.pdf</a:t>
            </a:r>
          </a:p>
          <a:p>
            <a:r>
              <a:t>- E:\学习历程\FPGA\FPGA调研.md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数据流把单次 token 内的 head group 重叠为 Prepare–Compute–Store，而不是跨相邻 token 流水。汇报时需要严格区分实测的 H_iter=2 与估算的 H_iter=8，并说明单层加速不等于端到端加速。</a:t>
            </a:r>
          </a:p>
          <a:p/>
          <a:p>
            <a:r>
              <a:t>[Sources]</a:t>
            </a:r>
          </a:p>
          <a:p>
            <a:r>
              <a:t>- E:\学习历程\FPGA\papers\A Persistent-State Dataflow Accelerator for Memory-Bound Linear Attention Decode on FPGA.pdf</a:t>
            </a:r>
          </a:p>
          <a:p>
            <a:r>
              <a:t>- E:\学习历程\FPGA\FPGA调研.md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DFVG 和 GLITCHES 都按完整阶段分工。DFVG 的边界来自 speculative decoding 的 draft/verify；GLITCHES 的边界来自标准自回归推理的 prefill/decode。</a:t>
            </a:r>
          </a:p>
          <a:p/>
          <a:p>
            <a:r>
              <a:t>[Sources]</a:t>
            </a:r>
          </a:p>
          <a:p>
            <a:r>
              <a:t>- E:\学习历程\FPGA\papers\DFVG-A Heterogeneous Architecture for SpeculativeDecoding with Draft-on-FPGA and Verify-on-GPU.pdf</a:t>
            </a:r>
          </a:p>
          <a:p>
            <a:r>
              <a:t>- E:\学习历程\FPGA\papers\GLITCHES-GPU-FPGA LLM Inference Through a C ollaborative Heterogeneous System.pdf</a:t>
            </a:r>
          </a:p>
          <a:p>
            <a:r>
              <a:t>- E:\学习历程\FPGA\FPGA调研.md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DFVG 把小模型 draft 放在 FPGA，把大模型 verify 放在 GPU。动态树提高验证并行度，overlap processor 让两设备并行工作，但系统必须处理分支 KV、回滚与负载平衡。</a:t>
            </a:r>
          </a:p>
          <a:p/>
          <a:p>
            <a:r>
              <a:t>[Sources]</a:t>
            </a:r>
          </a:p>
          <a:p>
            <a:r>
              <a:t>- E:\学习历程\FPGA\papers\DFVG-A Heterogeneous Architecture for SpeculativeDecoding with Draft-on-FPGA and Verify-on-GPU.pdf</a:t>
            </a:r>
          </a:p>
          <a:p>
            <a:r>
              <a:t>- E:\学习历程\FPGA\FPGA调研.md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DFVG 的硬件设计不是孤立优化：多分支使共享权重成为 DSP 打包条件，也把单 token GEMV 变为小批量 GEMM。论文在 OPT、LLaMA、Qwen 上报告最高 3.26 倍速度和 5.8 倍能效。</a:t>
            </a:r>
          </a:p>
          <a:p/>
          <a:p>
            <a:r>
              <a:t>[Sources]</a:t>
            </a:r>
          </a:p>
          <a:p>
            <a:r>
              <a:t>- E:\学习历程\FPGA\papers\DFVG-A Heterogeneous Architecture for SpeculativeDecoding with Draft-on-FPGA and Verify-on-GPU.pdf</a:t>
            </a:r>
          </a:p>
          <a:p>
            <a:r>
              <a:t>- E:\学习历程\FPGA\FPGA调研.md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GLITCHES 用阶段性质做硬件匹配：prefill 是大矩阵计算，保留在 GPU；decode 是小 batch、内存受限，分配到多块 FPGA。论文的系统比较是 1 个 GPU 加 7 个 U280 对 8 个同类 GPU。</a:t>
            </a:r>
          </a:p>
          <a:p/>
          <a:p>
            <a:r>
              <a:t>[Sources]</a:t>
            </a:r>
          </a:p>
          <a:p>
            <a:r>
              <a:t>- E:\学习历程\FPGA\papers\GLITCHES-GPU-FPGA LLM Inference Through a C ollaborative Heterogeneous System.pdf</a:t>
            </a:r>
          </a:p>
          <a:p>
            <a:r>
              <a:t>- E:\学习历程\FPGA\FPGA调研.md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GLITCHES 的 HBM 预取能进一步提高有效带宽，但跨设备比较同时改变了精度：FPGA 使用接近 W4A8，GPU 是 FP16。因此结论应表述为系统配置的性价比优势，而不是同精度下 FPGA 原始硬件必然更快。</a:t>
            </a:r>
          </a:p>
          <a:p/>
          <a:p>
            <a:r>
              <a:t>[Sources]</a:t>
            </a:r>
          </a:p>
          <a:p>
            <a:r>
              <a:t>- E:\学习历程\FPGA\papers\GLITCHES-GPU-FPGA LLM Inference Through a C ollaborative Heterogeneous System.pdf</a:t>
            </a:r>
          </a:p>
          <a:p>
            <a:r>
              <a:t>- E:\学习历程\FPGA\FPGA调研.md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webp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2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image" Target="../media/image4.png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5.png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9" Type="http://schemas.openxmlformats.org/officeDocument/2006/relationships/notesSlide" Target="../notesSlides/notesSlide8.xml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6.png"/><Relationship Id="rId16" Type="http://schemas.openxmlformats.org/officeDocument/2006/relationships/tags" Target="../tags/tag43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tags" Target="../tags/tag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1" Type="http://schemas.openxmlformats.org/officeDocument/2006/relationships/notesSlide" Target="../notesSlides/notesSlide9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45.xml"/><Relationship Id="rId19" Type="http://schemas.openxmlformats.org/officeDocument/2006/relationships/image" Target="../media/image9.png"/><Relationship Id="rId18" Type="http://schemas.openxmlformats.org/officeDocument/2006/relationships/tags" Target="../tags/tag6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tags" Target="../tags/tag56.xml"/><Relationship Id="rId12" Type="http://schemas.openxmlformats.org/officeDocument/2006/relationships/tags" Target="../tags/tag55.xml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tags" Target="../tags/tag4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0.png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0" Type="http://schemas.openxmlformats.org/officeDocument/2006/relationships/notesSlide" Target="../notesSlides/notesSlide12.xml"/><Relationship Id="rId1" Type="http://schemas.openxmlformats.org/officeDocument/2006/relationships/tags" Target="../tags/tag68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3" Type="http://schemas.openxmlformats.org/officeDocument/2006/relationships/notesSlide" Target="../notesSlides/notesSlide13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3.png"/><Relationship Id="rId10" Type="http://schemas.openxmlformats.org/officeDocument/2006/relationships/tags" Target="../tags/tag84.xml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cover-kicker"/>
          <p:cNvSpPr>
            <a:spLocks noGrp="1"/>
          </p:cNvSpPr>
          <p:nvPr/>
        </p:nvSpPr>
        <p:spPr>
          <a:xfrm>
            <a:off x="400050" y="4000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组会汇报 · 2026.08.05</a:t>
            </a:r>
            <a:endParaRPr sz="12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07670" y="980440"/>
            <a:ext cx="11292840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2400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华为项目进展</a:t>
            </a:r>
            <a:endParaRPr sz="2400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2400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2400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目前对ViT reuse框架的训练正确性验证已经完成。</a:t>
            </a:r>
            <a:endParaRPr sz="2400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2400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2400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上上周五与华为进行了讨论，目前华为那边的想法是：</a:t>
            </a:r>
            <a:endParaRPr sz="2400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2400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2400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actor和rollouter都直接使用低bit的模型，这样就不存在低bit所带来的训推并不一致的问题。</a:t>
            </a:r>
            <a:endParaRPr sz="2400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2400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2400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rollout的response长度基本一致，不存在超长case，这种情况下同步RL的性能可能会更好。</a:t>
            </a:r>
            <a:endParaRPr sz="2400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2400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2400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所以目前华为那边可能对低bit训推不一致的问题不太关心，他们说如果在训练时发现其他困难，会联系我们。</a:t>
            </a:r>
            <a:endParaRPr sz="2400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cover-kicker"/>
          <p:cNvSpPr>
            <a:spLocks noGrp="1"/>
          </p:cNvSpPr>
          <p:nvPr/>
        </p:nvSpPr>
        <p:spPr>
          <a:xfrm>
            <a:off x="400050" y="4000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组会汇报 · 2026.08.05</a:t>
            </a:r>
            <a:endParaRPr sz="12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cover-title"/>
          <p:cNvSpPr>
            <a:spLocks noGrp="1"/>
          </p:cNvSpPr>
          <p:nvPr/>
        </p:nvSpPr>
        <p:spPr>
          <a:xfrm>
            <a:off x="400050" y="1504950"/>
            <a:ext cx="55245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FPGA 在 LLM</a:t>
            </a:r>
            <a:endParaRPr sz="43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4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推理中的应用调研</a:t>
            </a:r>
            <a:endParaRPr sz="43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cover-subtitle"/>
          <p:cNvSpPr>
            <a:spLocks noGrp="1"/>
          </p:cNvSpPr>
          <p:nvPr/>
        </p:nvSpPr>
        <p:spPr>
          <a:xfrm>
            <a:off x="400050" y="4095750"/>
            <a:ext cx="5334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两条研究路线：单 FPGA 完整推理</a:t>
            </a:r>
            <a:endParaRPr sz="18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 FPGA–GPU 混合架构</a:t>
            </a:r>
            <a:endParaRPr sz="18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cover-media"/>
          <p:cNvSpPr>
            <a:spLocks noGrp="1"/>
          </p:cNvSpPr>
          <p:nvPr/>
        </p:nvSpPr>
        <p:spPr>
          <a:xfrm>
            <a:off x="6267450" y="400050"/>
            <a:ext cx="5524500" cy="5600700"/>
          </a:xfrm>
          <a:prstGeom prst="roundRect">
            <a:avLst>
              <a:gd name="adj" fmla="val 2069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6672580" y="1340485"/>
            <a:ext cx="4737100" cy="35826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kicker-2"/>
          <p:cNvSpPr>
            <a:spLocks noGrp="1"/>
          </p:cNvSpPr>
          <p:nvPr/>
        </p:nvSpPr>
        <p:spPr>
          <a:xfrm>
            <a:off x="400050" y="247650"/>
            <a:ext cx="514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FPGA × LLM 调研</a:t>
            </a:r>
            <a:endParaRPr sz="10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-2"/>
          <p:cNvSpPr>
            <a:spLocks noGrp="1"/>
          </p:cNvSpPr>
          <p:nvPr/>
        </p:nvSpPr>
        <p:spPr>
          <a:xfrm>
            <a:off x="400050" y="60960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调研框架：两大方向</a:t>
            </a:r>
            <a:endParaRPr sz="30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rule-2"/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footer-2"/>
          <p:cNvSpPr>
            <a:spLocks noGrp="1"/>
          </p:cNvSpPr>
          <p:nvPr/>
        </p:nvSpPr>
        <p:spPr>
          <a:xfrm>
            <a:off x="1122045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map-card-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00050" y="1844675"/>
            <a:ext cx="3467100" cy="3028950"/>
          </a:xfrm>
          <a:prstGeom prst="roundRect">
            <a:avLst>
              <a:gd name="adj" fmla="val 3774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7" name="map-no-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28650" y="2054225"/>
            <a:ext cx="838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875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map-title-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28650" y="2625725"/>
            <a:ext cx="30099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 FPGA 实现 LLM 推理</a:t>
            </a:r>
            <a:endParaRPr sz="1875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map-rule-0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28650" y="3482975"/>
            <a:ext cx="3009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0" name="map-body-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28650" y="3711575"/>
            <a:ext cx="3009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FPGA 承担完整模型或完整 decode 路径</a:t>
            </a:r>
            <a:endParaRPr sz="135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map-papers-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28650" y="4397375"/>
            <a:ext cx="320230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DFX · Spatial · </a:t>
            </a:r>
            <a:endParaRPr sz="1125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Hummingbird · Hummingbird+</a:t>
            </a:r>
            <a:endParaRPr sz="1125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map-card-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248150" y="1844675"/>
            <a:ext cx="3467100" cy="3028950"/>
          </a:xfrm>
          <a:prstGeom prst="roundRect">
            <a:avLst>
              <a:gd name="adj" fmla="val 3774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13" name="map-no-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476750" y="2054225"/>
            <a:ext cx="838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02A</a:t>
            </a:r>
            <a:endParaRPr sz="1875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map-title-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476750" y="2625725"/>
            <a:ext cx="30099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混合架构：算子级协作</a:t>
            </a:r>
            <a:endParaRPr sz="1875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map-rule-1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4476750" y="3482975"/>
            <a:ext cx="3009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6" name="map-body-1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476750" y="3711575"/>
            <a:ext cx="3009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35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卸载算子中部分计算到</a:t>
            </a:r>
            <a:r>
              <a:rPr lang="en-US" altLang="zh-CN" sz="135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FPGA</a:t>
            </a:r>
            <a:endParaRPr lang="en-US" altLang="zh-CN" sz="135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map-papers-1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476750" y="4397375"/>
            <a:ext cx="3009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Memory Processing · </a:t>
            </a:r>
            <a:endParaRPr sz="1125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Persistent-State GDN</a:t>
            </a:r>
            <a:endParaRPr sz="1125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map-card-2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8096250" y="1844675"/>
            <a:ext cx="3467100" cy="3028950"/>
          </a:xfrm>
          <a:prstGeom prst="roundRect">
            <a:avLst>
              <a:gd name="adj" fmla="val 3774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19" name="map-no-2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8324850" y="2054225"/>
            <a:ext cx="838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02B</a:t>
            </a:r>
            <a:endParaRPr sz="1875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map-title-2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8324850" y="2625725"/>
            <a:ext cx="30099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混合架构：阶段级协作</a:t>
            </a:r>
            <a:endParaRPr sz="1875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map-rule-2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8324850" y="3482975"/>
            <a:ext cx="3009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2" name="map-body-2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8324850" y="3711575"/>
            <a:ext cx="3009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按推理阶段 / speculative stage 划分设备职责</a:t>
            </a:r>
            <a:endParaRPr sz="135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map-papers-2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8324850" y="4397375"/>
            <a:ext cx="3009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DFVG · GLITCHES</a:t>
            </a:r>
            <a:endParaRPr sz="1125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map-axis"/>
          <p:cNvSpPr>
            <a:spLocks noGrp="1"/>
          </p:cNvSpPr>
          <p:nvPr/>
        </p:nvSpPr>
        <p:spPr>
          <a:xfrm>
            <a:off x="400050" y="530225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协作粒度：整机 / 阶段  →  算子链 / 单算子</a:t>
            </a:r>
            <a:endParaRPr sz="15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section-kicker-4"/>
          <p:cNvSpPr>
            <a:spLocks noGrp="1"/>
          </p:cNvSpPr>
          <p:nvPr/>
        </p:nvSpPr>
        <p:spPr>
          <a:xfrm>
            <a:off x="400050" y="4000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DIRECTION 1</a:t>
            </a:r>
            <a:endParaRPr sz="1125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ection-index-4"/>
          <p:cNvSpPr>
            <a:spLocks noGrp="1"/>
          </p:cNvSpPr>
          <p:nvPr/>
        </p:nvSpPr>
        <p:spPr>
          <a:xfrm>
            <a:off x="400050" y="1447800"/>
            <a:ext cx="1714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6600" b="1">
                <a:solidFill>
                  <a:srgbClr val="D0ED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600" b="1">
                <a:solidFill>
                  <a:srgbClr val="D0ED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6600" b="1">
              <a:solidFill>
                <a:srgbClr val="D0ED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section-title-4"/>
          <p:cNvSpPr>
            <a:spLocks noGrp="1"/>
          </p:cNvSpPr>
          <p:nvPr/>
        </p:nvSpPr>
        <p:spPr>
          <a:xfrm>
            <a:off x="2362200" y="1466850"/>
            <a:ext cx="8572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9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9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 FPGA 实现 LLM 推理</a:t>
            </a:r>
            <a:endParaRPr sz="39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ection-sub-4"/>
          <p:cNvSpPr>
            <a:spLocks noGrp="1"/>
          </p:cNvSpPr>
          <p:nvPr/>
        </p:nvSpPr>
        <p:spPr>
          <a:xfrm>
            <a:off x="2381250" y="2552700"/>
            <a:ext cx="8286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从多板完整推理，到空间数据流、嵌入式低成本部署：核心始终是把每 token 的数据搬运压到带宽预算内。</a:t>
            </a:r>
            <a:endParaRPr sz="172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ection-rule-4"/>
          <p:cNvSpPr>
            <a:spLocks noGrp="1"/>
          </p:cNvSpPr>
          <p:nvPr/>
        </p:nvSpPr>
        <p:spPr>
          <a:xfrm>
            <a:off x="2381250" y="3676650"/>
            <a:ext cx="8477250" cy="1905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6" name="section-chip-4-0"/>
          <p:cNvSpPr>
            <a:spLocks noGrp="1"/>
          </p:cNvSpPr>
          <p:nvPr/>
        </p:nvSpPr>
        <p:spPr>
          <a:xfrm>
            <a:off x="2381250" y="4171950"/>
            <a:ext cx="2400300" cy="781050"/>
          </a:xfrm>
          <a:prstGeom prst="roundRect">
            <a:avLst>
              <a:gd name="adj" fmla="val 14634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7" name="section-chip-text-4-0"/>
          <p:cNvSpPr>
            <a:spLocks noGrp="1"/>
          </p:cNvSpPr>
          <p:nvPr/>
        </p:nvSpPr>
        <p:spPr>
          <a:xfrm>
            <a:off x="2533650" y="434340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完整模型映射</a:t>
            </a:r>
            <a:endParaRPr sz="13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ection-chip-4-1"/>
          <p:cNvSpPr>
            <a:spLocks noGrp="1"/>
          </p:cNvSpPr>
          <p:nvPr/>
        </p:nvSpPr>
        <p:spPr>
          <a:xfrm>
            <a:off x="5105400" y="4171950"/>
            <a:ext cx="2400300" cy="781050"/>
          </a:xfrm>
          <a:prstGeom prst="roundRect">
            <a:avLst>
              <a:gd name="adj" fmla="val 14634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9" name="section-chip-text-4-1"/>
          <p:cNvSpPr>
            <a:spLocks noGrp="1"/>
          </p:cNvSpPr>
          <p:nvPr/>
        </p:nvSpPr>
        <p:spPr>
          <a:xfrm>
            <a:off x="5257800" y="434340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数据流与量化</a:t>
            </a:r>
            <a:endParaRPr sz="13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ection-chip-4-2"/>
          <p:cNvSpPr>
            <a:spLocks noGrp="1"/>
          </p:cNvSpPr>
          <p:nvPr/>
        </p:nvSpPr>
        <p:spPr>
          <a:xfrm>
            <a:off x="7829550" y="4171950"/>
            <a:ext cx="2400300" cy="781050"/>
          </a:xfrm>
          <a:prstGeom prst="roundRect">
            <a:avLst>
              <a:gd name="adj" fmla="val 14634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11" name="section-chip-text-4-2"/>
          <p:cNvSpPr>
            <a:spLocks noGrp="1"/>
          </p:cNvSpPr>
          <p:nvPr/>
        </p:nvSpPr>
        <p:spPr>
          <a:xfrm>
            <a:off x="7981950" y="434340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边缘产品化</a:t>
            </a:r>
            <a:endParaRPr sz="13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ection-footer-4"/>
          <p:cNvSpPr>
            <a:spLocks noGrp="1"/>
          </p:cNvSpPr>
          <p:nvPr/>
        </p:nvSpPr>
        <p:spPr>
          <a:xfrm>
            <a:off x="1122045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9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dfx-left"/>
          <p:cNvSpPr>
            <a:spLocks noGrp="1"/>
          </p:cNvSpPr>
          <p:nvPr/>
        </p:nvSpPr>
        <p:spPr>
          <a:xfrm>
            <a:off x="407670" y="1700530"/>
            <a:ext cx="5334000" cy="2963545"/>
          </a:xfrm>
          <a:prstGeom prst="roundRect">
            <a:avLst>
              <a:gd name="adj" fmla="val 2899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2" name="title-3"/>
          <p:cNvSpPr>
            <a:spLocks noGrp="1"/>
          </p:cNvSpPr>
          <p:nvPr/>
        </p:nvSpPr>
        <p:spPr>
          <a:xfrm>
            <a:off x="400050" y="609600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 FPGA 全量推理并</a:t>
            </a:r>
            <a:r>
              <a:rPr lang="zh-CN"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无明显</a:t>
            </a:r>
            <a:r>
              <a:rPr lang="zh-CN"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优势</a:t>
            </a:r>
            <a:endParaRPr lang="zh-CN" sz="30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rule-3"/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0" name="single-2-body"/>
          <p:cNvSpPr>
            <a:spLocks noGrp="1"/>
          </p:cNvSpPr>
          <p:nvPr/>
        </p:nvSpPr>
        <p:spPr>
          <a:xfrm>
            <a:off x="551815" y="2276475"/>
            <a:ext cx="5020310" cy="3126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800">
                <a:solidFill>
                  <a:schemeClr val="tx1"/>
                </a:solidFill>
                <a:sym typeface="+mn-ea"/>
              </a:rPr>
              <a:t>Decode </a:t>
            </a:r>
            <a:r>
              <a:rPr lang="zh-CN" altLang="en-US" sz="1800">
                <a:solidFill>
                  <a:schemeClr val="tx1"/>
                </a:solidFill>
                <a:sym typeface="+mn-ea"/>
              </a:rPr>
              <a:t>阶段通常是</a:t>
            </a:r>
            <a:r>
              <a:rPr lang="en-US" altLang="zh-CN" sz="1800">
                <a:solidFill>
                  <a:schemeClr val="tx1"/>
                </a:solidFill>
                <a:sym typeface="+mn-ea"/>
              </a:rPr>
              <a:t>memory-bound</a:t>
            </a:r>
            <a:r>
              <a:rPr lang="zh-CN" altLang="en-US" sz="1800">
                <a:solidFill>
                  <a:schemeClr val="tx1"/>
                </a:solidFill>
                <a:sym typeface="+mn-ea"/>
              </a:rPr>
              <a:t>的，</a:t>
            </a:r>
            <a:r>
              <a:rPr lang="en-US" altLang="zh-CN" sz="1800">
                <a:solidFill>
                  <a:schemeClr val="tx1"/>
                </a:solidFill>
                <a:sym typeface="+mn-ea"/>
              </a:rPr>
              <a:t>GEMV</a:t>
            </a:r>
            <a:r>
              <a:rPr lang="zh-CN" altLang="en-US" sz="1800">
                <a:solidFill>
                  <a:schemeClr val="tx1"/>
                </a:solidFill>
                <a:sym typeface="+mn-ea"/>
              </a:rPr>
              <a:t>性能主要受有效内存带宽制约。以</a:t>
            </a:r>
            <a:r>
              <a:rPr lang="en-US" altLang="zh-CN" sz="1800">
                <a:solidFill>
                  <a:schemeClr val="tx1"/>
                </a:solidFill>
                <a:sym typeface="+mn-ea"/>
              </a:rPr>
              <a:t>H100</a:t>
            </a:r>
            <a:r>
              <a:rPr lang="zh-CN" altLang="en-US" sz="1800">
                <a:solidFill>
                  <a:schemeClr val="tx1"/>
                </a:solidFill>
                <a:sym typeface="+mn-ea"/>
              </a:rPr>
              <a:t>为例，其</a:t>
            </a:r>
            <a:r>
              <a:rPr lang="en-US" altLang="zh-CN" sz="1800">
                <a:solidFill>
                  <a:schemeClr val="tx1"/>
                </a:solidFill>
                <a:sym typeface="+mn-ea"/>
              </a:rPr>
              <a:t>HBM</a:t>
            </a:r>
            <a:r>
              <a:rPr lang="zh-CN" altLang="en-US" sz="1800">
                <a:solidFill>
                  <a:schemeClr val="tx1"/>
                </a:solidFill>
                <a:sym typeface="+mn-ea"/>
              </a:rPr>
              <a:t>带宽可达3.35 </a:t>
            </a:r>
            <a:r>
              <a:rPr lang="en-US" altLang="zh-CN" sz="1800">
                <a:solidFill>
                  <a:schemeClr val="tx1"/>
                </a:solidFill>
                <a:sym typeface="+mn-ea"/>
              </a:rPr>
              <a:t>TB/s，</a:t>
            </a:r>
            <a:r>
              <a:rPr lang="zh-CN" altLang="en-US" sz="1800">
                <a:solidFill>
                  <a:schemeClr val="tx1"/>
                </a:solidFill>
                <a:sym typeface="+mn-ea"/>
              </a:rPr>
              <a:t>而常见 </a:t>
            </a:r>
            <a:r>
              <a:rPr lang="en-US" altLang="zh-CN" sz="1800">
                <a:solidFill>
                  <a:schemeClr val="tx1"/>
                </a:solidFill>
                <a:sym typeface="+mn-ea"/>
              </a:rPr>
              <a:t>FPGA </a:t>
            </a:r>
            <a:r>
              <a:rPr lang="zh-CN" altLang="en-US" sz="1800">
                <a:solidFill>
                  <a:schemeClr val="tx1"/>
                </a:solidFill>
                <a:sym typeface="+mn-ea"/>
              </a:rPr>
              <a:t>板卡的 </a:t>
            </a:r>
            <a:r>
              <a:rPr lang="en-US" altLang="zh-CN" sz="1800">
                <a:solidFill>
                  <a:schemeClr val="tx1"/>
                </a:solidFill>
                <a:sym typeface="+mn-ea"/>
              </a:rPr>
              <a:t>HBM/DDR </a:t>
            </a:r>
            <a:r>
              <a:rPr lang="zh-CN" altLang="en-US" sz="1800">
                <a:solidFill>
                  <a:schemeClr val="tx1"/>
                </a:solidFill>
                <a:sym typeface="+mn-ea"/>
              </a:rPr>
              <a:t>带宽通常低得多。相较于</a:t>
            </a:r>
            <a:r>
              <a:rPr lang="en-US" altLang="zh-CN" sz="1800">
                <a:solidFill>
                  <a:schemeClr val="tx1"/>
                </a:solidFill>
                <a:sym typeface="+mn-ea"/>
              </a:rPr>
              <a:t>prefill，GPU</a:t>
            </a:r>
            <a:r>
              <a:rPr lang="zh-CN" altLang="en-US" sz="1800">
                <a:solidFill>
                  <a:schemeClr val="tx1"/>
                </a:solidFill>
                <a:sym typeface="+mn-ea"/>
              </a:rPr>
              <a:t>与</a:t>
            </a:r>
            <a:r>
              <a:rPr lang="en-US" altLang="zh-CN" sz="1800">
                <a:solidFill>
                  <a:schemeClr val="tx1"/>
                </a:solidFill>
                <a:sym typeface="+mn-ea"/>
              </a:rPr>
              <a:t>FPGA </a:t>
            </a:r>
            <a:r>
              <a:rPr lang="zh-CN" altLang="en-US" sz="1800">
                <a:solidFill>
                  <a:schemeClr val="tx1"/>
                </a:solidFill>
                <a:sym typeface="+mn-ea"/>
              </a:rPr>
              <a:t>在</a:t>
            </a:r>
            <a:r>
              <a:rPr lang="en-US" altLang="zh-CN" sz="1800">
                <a:solidFill>
                  <a:schemeClr val="tx1"/>
                </a:solidFill>
                <a:sym typeface="+mn-ea"/>
              </a:rPr>
              <a:t>decode</a:t>
            </a:r>
            <a:r>
              <a:rPr lang="zh-CN" altLang="en-US" sz="1800">
                <a:solidFill>
                  <a:schemeClr val="tx1"/>
                </a:solidFill>
                <a:sym typeface="+mn-ea"/>
              </a:rPr>
              <a:t>阶段的差距可能缩小，但这不等于</a:t>
            </a:r>
            <a:r>
              <a:rPr lang="en-US" altLang="zh-CN" sz="1800">
                <a:solidFill>
                  <a:schemeClr val="tx1"/>
                </a:solidFill>
                <a:sym typeface="+mn-ea"/>
              </a:rPr>
              <a:t>FPGA</a:t>
            </a:r>
            <a:r>
              <a:rPr lang="zh-CN" altLang="en-US" sz="1800">
                <a:solidFill>
                  <a:schemeClr val="tx1"/>
                </a:solidFill>
                <a:sym typeface="+mn-ea"/>
              </a:rPr>
              <a:t>领先。</a:t>
            </a:r>
            <a:endParaRPr lang="zh-CN" altLang="en-US" sz="18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" name="kicker-6"/>
          <p:cNvSpPr>
            <a:spLocks noGrp="1"/>
          </p:cNvSpPr>
          <p:nvPr/>
        </p:nvSpPr>
        <p:spPr>
          <a:xfrm>
            <a:off x="400050" y="247650"/>
            <a:ext cx="514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方向一 · </a:t>
            </a:r>
            <a:r>
              <a:rPr lang="zh-CN" sz="10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整体判断</a:t>
            </a:r>
            <a:endParaRPr lang="zh-CN" sz="10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dfx-arch"/>
          <p:cNvSpPr>
            <a:spLocks noGrp="1"/>
          </p:cNvSpPr>
          <p:nvPr/>
        </p:nvSpPr>
        <p:spPr>
          <a:xfrm>
            <a:off x="533400" y="1772285"/>
            <a:ext cx="2261870" cy="429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带宽天花板更低</a:t>
            </a:r>
            <a:endParaRPr sz="1875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dfx-left"/>
          <p:cNvSpPr>
            <a:spLocks noGrp="1"/>
          </p:cNvSpPr>
          <p:nvPr/>
        </p:nvSpPr>
        <p:spPr>
          <a:xfrm>
            <a:off x="6168390" y="1657350"/>
            <a:ext cx="5334000" cy="3007360"/>
          </a:xfrm>
          <a:prstGeom prst="roundRect">
            <a:avLst>
              <a:gd name="adj" fmla="val 2899"/>
            </a:avLst>
          </a:prstGeom>
          <a:solidFill>
            <a:schemeClr val="bg1">
              <a:lumMod val="95000"/>
            </a:schemeClr>
          </a:solidFill>
          <a:ln w="0">
            <a:noFill/>
            <a:prstDash val="solid"/>
          </a:ln>
        </p:spPr>
      </p:sp>
      <p:sp>
        <p:nvSpPr>
          <p:cNvPr id="19" name="dfx-arch"/>
          <p:cNvSpPr>
            <a:spLocks noGrp="1"/>
          </p:cNvSpPr>
          <p:nvPr/>
        </p:nvSpPr>
        <p:spPr>
          <a:xfrm>
            <a:off x="6327140" y="1757045"/>
            <a:ext cx="4381500" cy="4718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小 GEMM 正在削弱传统 GEMV 叙事</a:t>
            </a:r>
            <a:endParaRPr sz="1875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ingle-2-body"/>
          <p:cNvSpPr>
            <a:spLocks noGrp="1"/>
          </p:cNvSpPr>
          <p:nvPr/>
        </p:nvSpPr>
        <p:spPr>
          <a:xfrm>
            <a:off x="6333490" y="2348865"/>
            <a:ext cx="5020310" cy="3126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类似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GQA、MLA</a:t>
            </a:r>
            <a:r>
              <a:rPr lang="zh-CN" altLang="en-US" sz="1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的算法中，一个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KV head</a:t>
            </a:r>
            <a:r>
              <a:rPr lang="zh-CN" altLang="en-US" sz="1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可以对应多个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qurey head，</a:t>
            </a:r>
            <a:r>
              <a:rPr lang="zh-CN" altLang="en-US" sz="1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那么在一次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decode</a:t>
            </a:r>
            <a:r>
              <a:rPr lang="zh-CN" altLang="en-US" sz="1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前向中，就可以把一个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token</a:t>
            </a:r>
            <a:r>
              <a:rPr lang="zh-CN" altLang="en-US" sz="1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的一个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KV head</a:t>
            </a:r>
            <a:r>
              <a:rPr lang="zh-CN" altLang="en-US" sz="1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对应的多个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query head</a:t>
            </a:r>
            <a:r>
              <a:rPr lang="zh-CN" altLang="en-US" sz="1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的计算放在一起，形成一个小规模的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GEMM，</a:t>
            </a:r>
            <a:r>
              <a:rPr lang="zh-CN" altLang="en-US" sz="1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从而提高算术强度，增加权重复用。</a:t>
            </a:r>
            <a:endParaRPr lang="zh-CN" altLang="en-US" sz="18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0" name="hbp-lesson"/>
          <p:cNvSpPr>
            <a:spLocks noGrp="1"/>
          </p:cNvSpPr>
          <p:nvPr/>
        </p:nvSpPr>
        <p:spPr>
          <a:xfrm>
            <a:off x="400050" y="5229225"/>
            <a:ext cx="11068050" cy="609600"/>
          </a:xfrm>
          <a:prstGeom prst="roundRect">
            <a:avLst>
              <a:gd name="adj" fmla="val 18750"/>
            </a:avLst>
          </a:prstGeom>
          <a:solidFill>
            <a:srgbClr val="F6E2CE"/>
          </a:solidFill>
          <a:ln w="0">
            <a:noFill/>
            <a:prstDash val="solid"/>
          </a:ln>
        </p:spPr>
      </p:sp>
      <p:sp>
        <p:nvSpPr>
          <p:cNvPr id="21" name="文本框 20"/>
          <p:cNvSpPr txBox="1"/>
          <p:nvPr/>
        </p:nvSpPr>
        <p:spPr>
          <a:xfrm>
            <a:off x="479425" y="5229225"/>
            <a:ext cx="109004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这类论文中往往以之前的FPGA加速器作为主要比较对象，而与GPU的比较很少，甚至没有，与GPU的比较也往往属于不公平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(FPGA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使用低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bit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使用高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bit)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或者低性能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baseline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kicker-6"/>
          <p:cNvSpPr>
            <a:spLocks noGrp="1"/>
          </p:cNvSpPr>
          <p:nvPr/>
        </p:nvSpPr>
        <p:spPr>
          <a:xfrm>
            <a:off x="400050" y="247650"/>
            <a:ext cx="514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方向一 · DFX</a:t>
            </a:r>
            <a:r>
              <a:rPr lang="en-US" sz="10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&amp; </a:t>
            </a:r>
            <a:r>
              <a:rPr>
                <a:sym typeface="+mn-ea"/>
              </a:rPr>
              <a:t>Spatial Acceleration</a:t>
            </a:r>
            <a:endParaRPr lang="en-US" sz="10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-6"/>
          <p:cNvSpPr>
            <a:spLocks noGrp="1"/>
          </p:cNvSpPr>
          <p:nvPr/>
        </p:nvSpPr>
        <p:spPr>
          <a:xfrm>
            <a:off x="400050" y="60960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DFX</a:t>
            </a:r>
            <a:r>
              <a:rPr lang="en-US"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&amp; </a:t>
            </a:r>
            <a:r>
              <a:rPr>
                <a:sym typeface="+mn-ea"/>
              </a:rPr>
              <a:t>Spatial</a:t>
            </a:r>
            <a:endParaRPr sz="30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rule-6"/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footer-6"/>
          <p:cNvSpPr>
            <a:spLocks noGrp="1"/>
          </p:cNvSpPr>
          <p:nvPr/>
        </p:nvSpPr>
        <p:spPr>
          <a:xfrm>
            <a:off x="1122045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9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dfx-left"/>
          <p:cNvSpPr>
            <a:spLocks noGrp="1"/>
          </p:cNvSpPr>
          <p:nvPr/>
        </p:nvSpPr>
        <p:spPr>
          <a:xfrm>
            <a:off x="400050" y="1657350"/>
            <a:ext cx="5334000" cy="3943350"/>
          </a:xfrm>
          <a:prstGeom prst="roundRect">
            <a:avLst>
              <a:gd name="adj" fmla="val 2899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6" name="dfx-arch"/>
          <p:cNvSpPr>
            <a:spLocks noGrp="1"/>
          </p:cNvSpPr>
          <p:nvPr/>
        </p:nvSpPr>
        <p:spPr>
          <a:xfrm>
            <a:off x="695325" y="1726565"/>
            <a:ext cx="5021580" cy="6140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87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DFX</a:t>
            </a:r>
            <a:r>
              <a:rPr lang="zh-CN" altLang="en-US" sz="187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>
                <a:sym typeface="+mn-ea"/>
              </a:rPr>
              <a:t>用多 FPGA 完成 GPT-2 端到端推理</a:t>
            </a:r>
            <a:endParaRPr lang="en-US" sz="1875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7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架构与映射</a:t>
            </a:r>
            <a:endParaRPr sz="1875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dfx-a-bar"/>
          <p:cNvSpPr>
            <a:spLocks noGrp="1"/>
          </p:cNvSpPr>
          <p:nvPr/>
        </p:nvSpPr>
        <p:spPr>
          <a:xfrm>
            <a:off x="666750" y="2505075"/>
            <a:ext cx="47625" cy="6096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dfx-a-title"/>
          <p:cNvSpPr>
            <a:spLocks noGrp="1"/>
          </p:cNvSpPr>
          <p:nvPr/>
        </p:nvSpPr>
        <p:spPr>
          <a:xfrm>
            <a:off x="857250" y="2457450"/>
            <a:ext cx="4476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四板模型并行</a:t>
            </a:r>
            <a:endParaRPr sz="16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dfx-a-body"/>
          <p:cNvSpPr>
            <a:spLocks noGrp="1"/>
          </p:cNvSpPr>
          <p:nvPr/>
        </p:nvSpPr>
        <p:spPr>
          <a:xfrm>
            <a:off x="857250" y="2790825"/>
            <a:ext cx="447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4× Alveo U280；层内切分权重，每块 FPGA 配一个 compute core。</a:t>
            </a:r>
            <a:endParaRPr sz="12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dfx-b-bar"/>
          <p:cNvSpPr>
            <a:spLocks noGrp="1"/>
          </p:cNvSpPr>
          <p:nvPr/>
        </p:nvSpPr>
        <p:spPr>
          <a:xfrm>
            <a:off x="666750" y="3552825"/>
            <a:ext cx="47625" cy="60960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11" name="dfx-b-title"/>
          <p:cNvSpPr>
            <a:spLocks noGrp="1"/>
          </p:cNvSpPr>
          <p:nvPr/>
        </p:nvSpPr>
        <p:spPr>
          <a:xfrm>
            <a:off x="857250" y="3505200"/>
            <a:ext cx="4476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指令化数据流</a:t>
            </a:r>
            <a:endParaRPr sz="16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dfx-b-body"/>
          <p:cNvSpPr>
            <a:spLocks noGrp="1"/>
          </p:cNvSpPr>
          <p:nvPr/>
        </p:nvSpPr>
        <p:spPr>
          <a:xfrm>
            <a:off x="857250" y="3838575"/>
            <a:ext cx="447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自定义指令控制器组织算子，并利用 U280 的多路 HBM 通道。</a:t>
            </a:r>
            <a:endParaRPr sz="12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dfx-c-bar"/>
          <p:cNvSpPr>
            <a:spLocks noGrp="1"/>
          </p:cNvSpPr>
          <p:nvPr/>
        </p:nvSpPr>
        <p:spPr>
          <a:xfrm>
            <a:off x="666750" y="4600575"/>
            <a:ext cx="47625" cy="60960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14" name="dfx-c-title"/>
          <p:cNvSpPr>
            <a:spLocks noGrp="1"/>
          </p:cNvSpPr>
          <p:nvPr/>
        </p:nvSpPr>
        <p:spPr>
          <a:xfrm>
            <a:off x="857250" y="4552950"/>
            <a:ext cx="4476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系统代价</a:t>
            </a:r>
            <a:endParaRPr sz="16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dfx-c-body"/>
          <p:cNvSpPr>
            <a:spLocks noGrp="1"/>
          </p:cNvSpPr>
          <p:nvPr/>
        </p:nvSpPr>
        <p:spPr>
          <a:xfrm>
            <a:off x="857250" y="4886325"/>
            <a:ext cx="447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板间同步与通信进入关键路径；四板 1.5B 情况同步约占 17.3%。</a:t>
            </a:r>
            <a:endParaRPr sz="12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dfx-tag"/>
          <p:cNvSpPr>
            <a:spLocks noGrp="1"/>
          </p:cNvSpPr>
          <p:nvPr/>
        </p:nvSpPr>
        <p:spPr>
          <a:xfrm>
            <a:off x="400685" y="5981700"/>
            <a:ext cx="10820400" cy="487680"/>
          </a:xfrm>
          <a:prstGeom prst="roundRect">
            <a:avLst>
              <a:gd name="adj" fmla="val 35294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1" name="dfx-tag-text"/>
          <p:cNvSpPr>
            <a:spLocks noGrp="1"/>
          </p:cNvSpPr>
          <p:nvPr/>
        </p:nvSpPr>
        <p:spPr>
          <a:xfrm>
            <a:off x="533400" y="6048375"/>
            <a:ext cx="10609580" cy="33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论文：DFX: A Low-latency Multi-FPGA Appliance for Accelerating Transformer-based Text Generation</a:t>
            </a:r>
            <a:r>
              <a:rPr lang="zh-CN" sz="9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>
                <a:sym typeface="+mn-ea"/>
              </a:rPr>
              <a:t>Understanding the Potential of FPGA-Based Spatial Acceleration for Large Language Model Inference</a:t>
            </a:r>
            <a:endParaRPr lang="zh-CN" sz="9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dfx-left"/>
          <p:cNvSpPr>
            <a:spLocks noGrp="1"/>
          </p:cNvSpPr>
          <p:nvPr/>
        </p:nvSpPr>
        <p:spPr>
          <a:xfrm>
            <a:off x="5903595" y="1657350"/>
            <a:ext cx="5334000" cy="3943350"/>
          </a:xfrm>
          <a:prstGeom prst="roundRect">
            <a:avLst>
              <a:gd name="adj" fmla="val 2899"/>
            </a:avLst>
          </a:prstGeom>
          <a:solidFill>
            <a:schemeClr val="bg1">
              <a:lumMod val="95000"/>
            </a:schemeClr>
          </a:solidFill>
          <a:ln w="0">
            <a:noFill/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4" name="dfx-arch"/>
          <p:cNvSpPr>
            <a:spLocks noGrp="1"/>
          </p:cNvSpPr>
          <p:nvPr/>
        </p:nvSpPr>
        <p:spPr>
          <a:xfrm>
            <a:off x="6198870" y="1726565"/>
            <a:ext cx="5021580" cy="6140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Spatial</a:t>
            </a:r>
            <a:r>
              <a:rPr lang="zh-CN" altLang="en-US" sz="187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>
                <a:sym typeface="+mn-ea"/>
              </a:rPr>
              <a:t>为每类算子建立专用空间流水</a:t>
            </a:r>
            <a:endParaRPr lang="en-US" sz="1875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7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架构与映射</a:t>
            </a:r>
            <a:endParaRPr sz="1875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1"/>
          <a:srcRect r="4433"/>
          <a:stretch>
            <a:fillRect/>
          </a:stretch>
        </p:blipFill>
        <p:spPr>
          <a:xfrm>
            <a:off x="6024245" y="2457450"/>
            <a:ext cx="5039995" cy="1143000"/>
          </a:xfrm>
          <a:prstGeom prst="rect">
            <a:avLst/>
          </a:prstGeom>
        </p:spPr>
      </p:pic>
      <p:sp>
        <p:nvSpPr>
          <p:cNvPr id="46" name="dfx-a-body"/>
          <p:cNvSpPr>
            <a:spLocks noGrp="1"/>
          </p:cNvSpPr>
          <p:nvPr/>
        </p:nvSpPr>
        <p:spPr>
          <a:xfrm>
            <a:off x="6214110" y="4076700"/>
            <a:ext cx="5040630" cy="13569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75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该论文提出了空间架构，在</a:t>
            </a:r>
            <a:r>
              <a:rPr lang="en-US" altLang="zh-CN" sz="1275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FPGA</a:t>
            </a:r>
            <a:r>
              <a:rPr lang="zh-CN" altLang="en-US" sz="1275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上实现了不同计算单元，分别处理不同的计算任务。</a:t>
            </a:r>
            <a:endParaRPr lang="zh-CN" altLang="en-US" sz="1275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75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这种架构与</a:t>
            </a:r>
            <a:r>
              <a:rPr lang="en-US" altLang="zh-CN" sz="1275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decode</a:t>
            </a:r>
            <a:r>
              <a:rPr lang="zh-CN" altLang="en-US" sz="1275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天然存在矛盾，</a:t>
            </a:r>
            <a:r>
              <a:rPr lang="en-US" altLang="zh-CN" sz="1275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decode</a:t>
            </a:r>
            <a:r>
              <a:rPr lang="zh-CN" altLang="en-US" sz="1275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阶段只有一个</a:t>
            </a:r>
            <a:r>
              <a:rPr lang="en-US" altLang="zh-CN" sz="1275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</a:t>
            </a:r>
            <a:r>
              <a:rPr lang="zh-CN" altLang="en-US" sz="1275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向量，根本无法充分利用不同计算单元的并行性。</a:t>
            </a:r>
            <a:endParaRPr lang="zh-CN" altLang="en-US" sz="1275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275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layernorm</a:t>
            </a:r>
            <a:r>
              <a:rPr lang="zh-CN" altLang="en-US" sz="1275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这种</a:t>
            </a:r>
            <a:r>
              <a:rPr>
                <a:sym typeface="+mn-ea"/>
              </a:rPr>
              <a:t>全向量依赖形成阶段屏障</a:t>
            </a:r>
            <a:r>
              <a:rPr lang="zh-CN">
                <a:sym typeface="+mn-ea"/>
              </a:rPr>
              <a:t>，</a:t>
            </a:r>
            <a:r>
              <a:rPr lang="zh-CN" altLang="en-US" sz="1275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进一步限制了并行流水的效果。</a:t>
            </a:r>
            <a:endParaRPr lang="zh-CN" altLang="en-US" sz="1275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dfx-a-title"/>
          <p:cNvSpPr>
            <a:spLocks noGrp="1"/>
          </p:cNvSpPr>
          <p:nvPr/>
        </p:nvSpPr>
        <p:spPr>
          <a:xfrm>
            <a:off x="6214745" y="3717290"/>
            <a:ext cx="4476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空间架构的</a:t>
            </a:r>
            <a:r>
              <a:rPr lang="zh-CN"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</a:t>
            </a:r>
            <a:endParaRPr lang="zh-CN" sz="16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dfx-a-bar"/>
          <p:cNvSpPr>
            <a:spLocks noGrp="1"/>
          </p:cNvSpPr>
          <p:nvPr/>
        </p:nvSpPr>
        <p:spPr>
          <a:xfrm flipH="1">
            <a:off x="6072505" y="3781425"/>
            <a:ext cx="76200" cy="15176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kicker-8"/>
          <p:cNvSpPr>
            <a:spLocks noGrp="1"/>
          </p:cNvSpPr>
          <p:nvPr/>
        </p:nvSpPr>
        <p:spPr>
          <a:xfrm>
            <a:off x="400050" y="247650"/>
            <a:ext cx="514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方向一 · Hummingbird</a:t>
            </a:r>
            <a:endParaRPr sz="10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-8"/>
          <p:cNvSpPr>
            <a:spLocks noGrp="1"/>
          </p:cNvSpPr>
          <p:nvPr/>
        </p:nvSpPr>
        <p:spPr>
          <a:xfrm>
            <a:off x="400050" y="60960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Hummingbird</a:t>
            </a:r>
            <a:r>
              <a:rPr lang="en-US"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&amp; </a:t>
            </a:r>
            <a:r>
              <a:rPr>
                <a:sym typeface="+mn-ea"/>
              </a:rPr>
              <a:t>Hummingbird</a:t>
            </a:r>
            <a:r>
              <a:rPr lang="en-US">
                <a:sym typeface="+mn-ea"/>
              </a:rPr>
              <a:t>+</a:t>
            </a:r>
            <a:endParaRPr lang="en-US" sz="30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title-rule-8"/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footer-8"/>
          <p:cNvSpPr>
            <a:spLocks noGrp="1"/>
          </p:cNvSpPr>
          <p:nvPr/>
        </p:nvSpPr>
        <p:spPr>
          <a:xfrm>
            <a:off x="1122045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9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hb-img-bg"/>
          <p:cNvSpPr>
            <a:spLocks noGrp="1"/>
          </p:cNvSpPr>
          <p:nvPr/>
        </p:nvSpPr>
        <p:spPr>
          <a:xfrm>
            <a:off x="400050" y="1657350"/>
            <a:ext cx="5334000" cy="2952750"/>
          </a:xfrm>
          <a:prstGeom prst="roundRect">
            <a:avLst>
              <a:gd name="adj" fmla="val 3871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115" y="1822450"/>
            <a:ext cx="4799330" cy="1426210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80" y="3276600"/>
            <a:ext cx="4800600" cy="1066800"/>
          </a:xfrm>
          <a:prstGeom prst="rect">
            <a:avLst/>
          </a:prstGeom>
        </p:spPr>
      </p:pic>
      <p:sp>
        <p:nvSpPr>
          <p:cNvPr id="8" name="hb-a-bar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121400" y="3751580"/>
            <a:ext cx="47625" cy="6096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9" name="hb-a-title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311900" y="3703955"/>
            <a:ext cx="5048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MOE</a:t>
            </a:r>
            <a:r>
              <a: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zh-CN"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</a:t>
            </a:r>
            <a:r>
              <a:rPr lang="en-US" altLang="zh-CN"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bit</a:t>
            </a:r>
            <a:r>
              <a:rPr lang="zh-CN" altLang="en-US"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量化</a:t>
            </a:r>
            <a:endParaRPr lang="zh-CN" altLang="en-US" sz="16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hb-a-body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311900" y="4037330"/>
            <a:ext cx="504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>
                <a:sym typeface="+mn-ea"/>
              </a:rPr>
              <a:t>MOE</a:t>
            </a:r>
            <a:r>
              <a:rPr lang="zh-CN" altLang="en-US">
                <a:sym typeface="+mn-ea"/>
              </a:rPr>
              <a:t>让一次</a:t>
            </a:r>
            <a:r>
              <a:rPr lang="en-US" altLang="zh-CN">
                <a:sym typeface="+mn-ea"/>
              </a:rPr>
              <a:t>decode</a:t>
            </a:r>
            <a:r>
              <a:rPr lang="zh-CN" altLang="en-US">
                <a:sym typeface="+mn-ea"/>
              </a:rPr>
              <a:t>需要的参数量减少了，使得在</a:t>
            </a:r>
            <a:r>
              <a:rPr lang="en-US" altLang="zh-CN">
                <a:sym typeface="+mn-ea"/>
              </a:rPr>
              <a:t>FPGA</a:t>
            </a:r>
            <a:r>
              <a:rPr lang="zh-CN" altLang="en-US">
                <a:sym typeface="+mn-ea"/>
              </a:rPr>
              <a:t>上生成</a:t>
            </a:r>
            <a:r>
              <a:rPr lang="en-US" altLang="zh-CN">
                <a:sym typeface="+mn-ea"/>
              </a:rPr>
              <a:t>token</a:t>
            </a:r>
            <a:r>
              <a:rPr lang="zh-CN" altLang="en-US">
                <a:sym typeface="+mn-ea"/>
              </a:rPr>
              <a:t>的速度达到了可用的程度。</a:t>
            </a:r>
            <a:r>
              <a:rPr lang="en-US" altLang="zh-CN">
                <a:sym typeface="+mn-ea"/>
              </a:rPr>
              <a:t>Hummingbird+</a:t>
            </a:r>
            <a:r>
              <a:rPr lang="zh-CN" altLang="en-US">
                <a:sym typeface="+mn-ea"/>
              </a:rPr>
              <a:t>进一步优化了计算单元设计和流水线设计，实现了混合精度计算。</a:t>
            </a:r>
            <a:endParaRPr lang="zh-CN" altLang="en-US">
              <a:sym typeface="+mn-ea"/>
            </a:endParaRPr>
          </a:p>
        </p:txBody>
      </p:sp>
      <p:sp>
        <p:nvSpPr>
          <p:cNvPr id="11" name="hb-b-bar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121400" y="1697990"/>
            <a:ext cx="47625" cy="60960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12" name="hb-b-title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311900" y="1650365"/>
            <a:ext cx="5048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资源优化</a:t>
            </a:r>
            <a:endParaRPr sz="16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hb-b-body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311900" y="1983740"/>
            <a:ext cx="504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Hummingbird</a:t>
            </a:r>
            <a:r>
              <a:rPr lang="zh-CN" altLang="en-US"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中对</a:t>
            </a: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DSP链复用乘加与归约；示例从 255 降至 147 DSP，约节省 42%。</a:t>
            </a:r>
            <a:r>
              <a:rPr lang="zh-CN"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但我确实不太明白是怎么做到针对单个</a:t>
            </a:r>
            <a:r>
              <a:rPr lang="en-US" altLang="zh-CN"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DSP</a:t>
            </a:r>
            <a:r>
              <a:rPr lang="zh-CN" altLang="en-US"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进行优化布线的，似乎</a:t>
            </a:r>
            <a:r>
              <a:rPr lang="en-US" altLang="zh-CN"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HLS</a:t>
            </a:r>
            <a:r>
              <a:rPr lang="zh-CN" altLang="en-US"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Verilog</a:t>
            </a:r>
            <a:r>
              <a:rPr lang="zh-CN" altLang="en-US"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都很难做到。</a:t>
            </a:r>
            <a:endParaRPr lang="zh-CN" altLang="en-US" sz="12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hb-c-bar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121400" y="2764790"/>
            <a:ext cx="47625" cy="60960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15" name="hb-c-title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311900" y="2717165"/>
            <a:ext cx="5048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数据流优化</a:t>
            </a:r>
            <a:endParaRPr sz="16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hb-c-body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311900" y="3050540"/>
            <a:ext cx="504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>
                <a:sym typeface="+mn-ea"/>
              </a:rPr>
              <a:t>Hummingbird</a:t>
            </a:r>
            <a:r>
              <a:rPr lang="zh-CN" altLang="en-US">
                <a:sym typeface="+mn-ea"/>
              </a:rPr>
              <a:t>中</a:t>
            </a:r>
            <a:r>
              <a:rPr lang="zh-CN"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针对带宽设计数据流宽度，并针对</a:t>
            </a: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GQA</a:t>
            </a:r>
            <a:r>
              <a:rPr lang="zh-CN"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</a:t>
            </a: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重排减少片上缓存和空闲；embedding 从 Flash/SD 按需读取。</a:t>
            </a:r>
            <a:endParaRPr sz="12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hb-tag"/>
          <p:cNvSpPr>
            <a:spLocks noGrp="1"/>
          </p:cNvSpPr>
          <p:nvPr/>
        </p:nvSpPr>
        <p:spPr>
          <a:xfrm>
            <a:off x="372110" y="6188710"/>
            <a:ext cx="11075670" cy="462280"/>
          </a:xfrm>
          <a:prstGeom prst="roundRect">
            <a:avLst>
              <a:gd name="adj" fmla="val 35294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30" name="hb-tag-text"/>
          <p:cNvSpPr>
            <a:spLocks noGrp="1"/>
          </p:cNvSpPr>
          <p:nvPr/>
        </p:nvSpPr>
        <p:spPr>
          <a:xfrm>
            <a:off x="505460" y="6255385"/>
            <a:ext cx="10796905" cy="3263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论文：Hummingbird: A Smaller and Faster Large Language Model Accelerator on Embedded FPGA</a:t>
            </a:r>
            <a:r>
              <a:rPr lang="zh-CN" sz="9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9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Hummingbird+</a:t>
            </a:r>
            <a:r>
              <a:rPr lang="zh-CN" altLang="en-US" sz="9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9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Advancing FPGA-based LLM Deployment from Research Prototype to Edge Product</a:t>
            </a:r>
            <a:endParaRPr lang="en-US" altLang="zh-CN" sz="9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hbp-lesson"/>
          <p:cNvSpPr>
            <a:spLocks noGrp="1"/>
          </p:cNvSpPr>
          <p:nvPr/>
        </p:nvSpPr>
        <p:spPr>
          <a:xfrm>
            <a:off x="372110" y="5377180"/>
            <a:ext cx="11068050" cy="600075"/>
          </a:xfrm>
          <a:prstGeom prst="roundRect">
            <a:avLst>
              <a:gd name="adj" fmla="val 18750"/>
            </a:avLst>
          </a:prstGeom>
          <a:solidFill>
            <a:srgbClr val="F6E2CE"/>
          </a:solidFill>
          <a:ln w="0">
            <a:noFill/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46405" y="5377180"/>
            <a:ext cx="110293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推理全部放到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FPGA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上进行，需要实现所有算子，需要更多的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FPGA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资源，并且需要复杂的控制逻辑，实现难度较大；当前这些论文没有详细的开源资料可以学习；与现代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相比优势较少，可能仅有功耗优势。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/>
              <p:cNvSpPr txBox="1"/>
              <p:nvPr/>
            </p:nvSpPr>
            <p:spPr>
              <a:xfrm>
                <a:off x="3072066" y="4729734"/>
                <a:ext cx="5229225" cy="66992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生成速度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≈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有效内存带宽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每个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𝑡𝑜𝑘𝑒𝑛</m:t>
                          </m:r>
                          <m:r>
                            <a:rPr lang="zh-CN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需要读取的有效参数字节数</m:t>
                          </m:r>
                        </m:den>
                      </m:f>
                    </m:oMath>
                  </m:oMathPara>
                </a14:m>
                <a:endParaRPr lang="zh-CN" altLang="en-US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2066" y="4729734"/>
                <a:ext cx="5229225" cy="669925"/>
              </a:xfrm>
              <a:prstGeom prst="rect">
                <a:avLst/>
              </a:prstGeom>
              <a:blipFill rotWithShape="1">
                <a:blip r:embed="rId12"/>
                <a:stretch>
                  <a:fillRect l="-11" t="-38" r="11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section-kicker-11"/>
          <p:cNvSpPr>
            <a:spLocks noGrp="1"/>
          </p:cNvSpPr>
          <p:nvPr/>
        </p:nvSpPr>
        <p:spPr>
          <a:xfrm>
            <a:off x="400050" y="4000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DIRECTION 2</a:t>
            </a:r>
            <a:endParaRPr sz="1125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ection-index-11"/>
          <p:cNvSpPr>
            <a:spLocks noGrp="1"/>
          </p:cNvSpPr>
          <p:nvPr/>
        </p:nvSpPr>
        <p:spPr>
          <a:xfrm>
            <a:off x="400050" y="1447800"/>
            <a:ext cx="1714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6600" b="1">
                <a:solidFill>
                  <a:srgbClr val="D0ED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600" b="1">
                <a:solidFill>
                  <a:srgbClr val="D0ED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6600" b="1">
              <a:solidFill>
                <a:srgbClr val="D0ED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section-title-11"/>
          <p:cNvSpPr>
            <a:spLocks noGrp="1"/>
          </p:cNvSpPr>
          <p:nvPr/>
        </p:nvSpPr>
        <p:spPr>
          <a:xfrm>
            <a:off x="2362200" y="1466850"/>
            <a:ext cx="8572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9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9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FPGA–GPU 混合架构</a:t>
            </a:r>
            <a:endParaRPr sz="39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ection-sub-11"/>
          <p:cNvSpPr>
            <a:spLocks noGrp="1"/>
          </p:cNvSpPr>
          <p:nvPr/>
        </p:nvSpPr>
        <p:spPr>
          <a:xfrm>
            <a:off x="2381250" y="2552700"/>
            <a:ext cx="8286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 保留高算力与成熟软件栈，FPGA 接管更规则、更内存受限或需要常驻状态的部分；关键是选择协作粒度。</a:t>
            </a:r>
            <a:endParaRPr sz="172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ection-rule-11"/>
          <p:cNvSpPr>
            <a:spLocks noGrp="1"/>
          </p:cNvSpPr>
          <p:nvPr/>
        </p:nvSpPr>
        <p:spPr>
          <a:xfrm>
            <a:off x="2381250" y="3676650"/>
            <a:ext cx="8477250" cy="1905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6" name="section-chip-11-0"/>
          <p:cNvSpPr>
            <a:spLocks noGrp="1"/>
          </p:cNvSpPr>
          <p:nvPr/>
        </p:nvSpPr>
        <p:spPr>
          <a:xfrm>
            <a:off x="2381250" y="4171950"/>
            <a:ext cx="2400300" cy="781050"/>
          </a:xfrm>
          <a:prstGeom prst="roundRect">
            <a:avLst>
              <a:gd name="adj" fmla="val 14634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7" name="section-chip-text-11-0"/>
          <p:cNvSpPr>
            <a:spLocks noGrp="1"/>
          </p:cNvSpPr>
          <p:nvPr/>
        </p:nvSpPr>
        <p:spPr>
          <a:xfrm>
            <a:off x="2533650" y="434340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算子级协作</a:t>
            </a:r>
            <a:endParaRPr sz="13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ection-chip-11-1"/>
          <p:cNvSpPr>
            <a:spLocks noGrp="1"/>
          </p:cNvSpPr>
          <p:nvPr/>
        </p:nvSpPr>
        <p:spPr>
          <a:xfrm>
            <a:off x="5105400" y="4171950"/>
            <a:ext cx="2400300" cy="781050"/>
          </a:xfrm>
          <a:prstGeom prst="roundRect">
            <a:avLst>
              <a:gd name="adj" fmla="val 14634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9" name="section-chip-text-11-1"/>
          <p:cNvSpPr>
            <a:spLocks noGrp="1"/>
          </p:cNvSpPr>
          <p:nvPr/>
        </p:nvSpPr>
        <p:spPr>
          <a:xfrm>
            <a:off x="5257800" y="434340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阶段级协作</a:t>
            </a:r>
            <a:endParaRPr sz="13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ection-chip-11-2"/>
          <p:cNvSpPr>
            <a:spLocks noGrp="1"/>
          </p:cNvSpPr>
          <p:nvPr/>
        </p:nvSpPr>
        <p:spPr>
          <a:xfrm>
            <a:off x="7829550" y="4171950"/>
            <a:ext cx="2400300" cy="781050"/>
          </a:xfrm>
          <a:prstGeom prst="roundRect">
            <a:avLst>
              <a:gd name="adj" fmla="val 14634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11" name="section-chip-text-11-2"/>
          <p:cNvSpPr>
            <a:spLocks noGrp="1"/>
          </p:cNvSpPr>
          <p:nvPr/>
        </p:nvSpPr>
        <p:spPr>
          <a:xfrm>
            <a:off x="7981950" y="434340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端到端验证</a:t>
            </a:r>
            <a:endParaRPr sz="13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ection-footer-11"/>
          <p:cNvSpPr>
            <a:spLocks noGrp="1"/>
          </p:cNvSpPr>
          <p:nvPr/>
        </p:nvSpPr>
        <p:spPr>
          <a:xfrm>
            <a:off x="1122045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9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hbp-lesson"/>
          <p:cNvSpPr>
            <a:spLocks noGrp="1"/>
          </p:cNvSpPr>
          <p:nvPr/>
        </p:nvSpPr>
        <p:spPr>
          <a:xfrm>
            <a:off x="335280" y="5826125"/>
            <a:ext cx="11118215" cy="844550"/>
          </a:xfrm>
          <a:prstGeom prst="roundRect">
            <a:avLst>
              <a:gd name="adj" fmla="val 18750"/>
            </a:avLst>
          </a:prstGeom>
          <a:solidFill>
            <a:srgbClr val="F6E2CE"/>
          </a:solidFill>
          <a:ln w="0">
            <a:noFill/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0" name="kicker-12"/>
          <p:cNvSpPr>
            <a:spLocks noGrp="1"/>
          </p:cNvSpPr>
          <p:nvPr/>
        </p:nvSpPr>
        <p:spPr>
          <a:xfrm>
            <a:off x="400050" y="247650"/>
            <a:ext cx="514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方向二 · 协作粒度</a:t>
            </a:r>
            <a:endParaRPr sz="10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-12"/>
          <p:cNvSpPr>
            <a:spLocks noGrp="1"/>
          </p:cNvSpPr>
          <p:nvPr/>
        </p:nvSpPr>
        <p:spPr>
          <a:xfrm>
            <a:off x="400050" y="60960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混合架构分类：协作粒度决定收益与复杂度</a:t>
            </a:r>
            <a:endParaRPr sz="30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rule-12"/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footer-12"/>
          <p:cNvSpPr>
            <a:spLocks noGrp="1"/>
          </p:cNvSpPr>
          <p:nvPr/>
        </p:nvSpPr>
        <p:spPr>
          <a:xfrm>
            <a:off x="1122045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9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p-card"/>
          <p:cNvSpPr>
            <a:spLocks noGrp="1"/>
          </p:cNvSpPr>
          <p:nvPr/>
        </p:nvSpPr>
        <p:spPr>
          <a:xfrm>
            <a:off x="400050" y="1752600"/>
            <a:ext cx="5429250" cy="3714750"/>
          </a:xfrm>
          <a:prstGeom prst="roundRect">
            <a:avLst>
              <a:gd name="adj" fmla="val 3077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6" name="op-tag"/>
          <p:cNvSpPr>
            <a:spLocks noGrp="1"/>
          </p:cNvSpPr>
          <p:nvPr/>
        </p:nvSpPr>
        <p:spPr>
          <a:xfrm>
            <a:off x="666750" y="2000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OPERATOR-LEVEL</a:t>
            </a:r>
            <a:endParaRPr sz="1125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p-title"/>
          <p:cNvSpPr>
            <a:spLocks noGrp="1"/>
          </p:cNvSpPr>
          <p:nvPr/>
        </p:nvSpPr>
        <p:spPr>
          <a:xfrm>
            <a:off x="666750" y="2419350"/>
            <a:ext cx="247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算子级协作</a:t>
            </a:r>
            <a:endParaRPr sz="25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p-def"/>
          <p:cNvSpPr>
            <a:spLocks noGrp="1"/>
          </p:cNvSpPr>
          <p:nvPr/>
        </p:nvSpPr>
        <p:spPr>
          <a:xfrm>
            <a:off x="666750" y="3028950"/>
            <a:ext cx="4724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>
                <a:sym typeface="+mn-ea"/>
              </a:rPr>
              <a:t>卸载算子中部分计算到</a:t>
            </a:r>
            <a:r>
              <a:rPr lang="en-US" altLang="zh-CN">
                <a:sym typeface="+mn-ea"/>
              </a:rPr>
              <a:t>FPGA</a:t>
            </a:r>
            <a:r>
              <a:rPr sz="15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5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p-paper1"/>
          <p:cNvSpPr>
            <a:spLocks noGrp="1"/>
          </p:cNvSpPr>
          <p:nvPr/>
        </p:nvSpPr>
        <p:spPr>
          <a:xfrm>
            <a:off x="666750" y="3943350"/>
            <a:ext cx="466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Understand and Accelerate Memory Processing Pipeline</a:t>
            </a:r>
            <a:endParaRPr sz="1275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p-paper2"/>
          <p:cNvSpPr>
            <a:spLocks noGrp="1"/>
          </p:cNvSpPr>
          <p:nvPr/>
        </p:nvSpPr>
        <p:spPr>
          <a:xfrm>
            <a:off x="666750" y="4457700"/>
            <a:ext cx="466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A Persistent-State Dataflow Accelerator</a:t>
            </a:r>
            <a:endParaRPr sz="1275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p-trade"/>
          <p:cNvSpPr>
            <a:spLocks noGrp="1"/>
          </p:cNvSpPr>
          <p:nvPr/>
        </p:nvSpPr>
        <p:spPr>
          <a:xfrm>
            <a:off x="666750" y="4953000"/>
            <a:ext cx="466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优点：数据边界小、可精确匹配瓶颈</a:t>
            </a:r>
            <a:endParaRPr sz="12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难点：调用频繁</a:t>
            </a:r>
            <a:endParaRPr sz="12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tage-card"/>
          <p:cNvSpPr>
            <a:spLocks noGrp="1"/>
          </p:cNvSpPr>
          <p:nvPr/>
        </p:nvSpPr>
        <p:spPr>
          <a:xfrm>
            <a:off x="6191250" y="1752600"/>
            <a:ext cx="5600700" cy="371475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13" name="stage-tag"/>
          <p:cNvSpPr>
            <a:spLocks noGrp="1"/>
          </p:cNvSpPr>
          <p:nvPr/>
        </p:nvSpPr>
        <p:spPr>
          <a:xfrm>
            <a:off x="6457950" y="2000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STAGE-LEVEL</a:t>
            </a:r>
            <a:endParaRPr sz="1125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tage-title"/>
          <p:cNvSpPr>
            <a:spLocks noGrp="1"/>
          </p:cNvSpPr>
          <p:nvPr/>
        </p:nvSpPr>
        <p:spPr>
          <a:xfrm>
            <a:off x="6457950" y="2419350"/>
            <a:ext cx="247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阶段级协作</a:t>
            </a:r>
            <a:endParaRPr sz="25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tage-def"/>
          <p:cNvSpPr>
            <a:spLocks noGrp="1"/>
          </p:cNvSpPr>
          <p:nvPr/>
        </p:nvSpPr>
        <p:spPr>
          <a:xfrm>
            <a:off x="6457950" y="3028950"/>
            <a:ext cx="4857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 draft / verify 或 prefill / decode 等完整推理阶段划分设备职责。</a:t>
            </a:r>
            <a:endParaRPr sz="15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tage-paper1"/>
          <p:cNvSpPr>
            <a:spLocks noGrp="1"/>
          </p:cNvSpPr>
          <p:nvPr/>
        </p:nvSpPr>
        <p:spPr>
          <a:xfrm>
            <a:off x="6457950" y="394335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DFVG：Draft-on-FPGA / Verify-on-GPU</a:t>
            </a:r>
            <a:endParaRPr sz="1275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tage-paper2"/>
          <p:cNvSpPr>
            <a:spLocks noGrp="1"/>
          </p:cNvSpPr>
          <p:nvPr/>
        </p:nvSpPr>
        <p:spPr>
          <a:xfrm>
            <a:off x="6457950" y="445770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GLITCHES：GPU Prefill / FPGA Decode</a:t>
            </a:r>
            <a:endParaRPr sz="1275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tage-trade"/>
          <p:cNvSpPr>
            <a:spLocks noGrp="1"/>
          </p:cNvSpPr>
          <p:nvPr/>
        </p:nvSpPr>
        <p:spPr>
          <a:xfrm>
            <a:off x="6457950" y="4953000"/>
            <a:ext cx="476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优点：职责清晰、调用频率低</a:t>
            </a:r>
            <a:endParaRPr sz="12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难点：负载平衡、状态迁移与流水气泡</a:t>
            </a:r>
            <a:endParaRPr sz="12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ax-axis"/>
          <p:cNvSpPr>
            <a:spLocks noGrp="1"/>
          </p:cNvSpPr>
          <p:nvPr/>
        </p:nvSpPr>
        <p:spPr>
          <a:xfrm>
            <a:off x="1631950" y="5516880"/>
            <a:ext cx="885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粒度更细  ←  调用更频繁 / 边界更小   |   调用更少 / 状态更大  →  粒度更粗</a:t>
            </a:r>
            <a:endParaRPr sz="13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35280" y="5847080"/>
            <a:ext cx="113919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FPGA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承载的任务最好是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擅长的任务，比如规则或数据依赖的随机访存，高稀疏，非标准压缩格式或者混合精度；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交给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FPGA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的工作需要有明确的边界，最好不需要与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进行频繁的大量数据交互，减少数据传输的开销；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最好部分状态可以常驻在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FPGA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上；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kicker-13"/>
          <p:cNvSpPr>
            <a:spLocks noGrp="1"/>
          </p:cNvSpPr>
          <p:nvPr/>
        </p:nvSpPr>
        <p:spPr>
          <a:xfrm>
            <a:off x="400050" y="247650"/>
            <a:ext cx="514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方向二 · 算子级协作</a:t>
            </a:r>
            <a:endParaRPr sz="10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-13"/>
          <p:cNvSpPr>
            <a:spLocks noGrp="1"/>
          </p:cNvSpPr>
          <p:nvPr/>
        </p:nvSpPr>
        <p:spPr>
          <a:xfrm>
            <a:off x="400050" y="60960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算子级①：Memory Processing Pipeline 的四阶段框架</a:t>
            </a:r>
            <a:endParaRPr sz="30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rule-13"/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footer-13"/>
          <p:cNvSpPr>
            <a:spLocks noGrp="1"/>
          </p:cNvSpPr>
          <p:nvPr/>
        </p:nvSpPr>
        <p:spPr>
          <a:xfrm>
            <a:off x="1122045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9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mp-stage-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58140" y="1556385"/>
            <a:ext cx="2571750" cy="1543050"/>
          </a:xfrm>
          <a:prstGeom prst="roundRect">
            <a:avLst>
              <a:gd name="adj" fmla="val 7407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7" name="mp-no-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29590" y="173736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mp-title-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9590" y="2146935"/>
            <a:ext cx="2209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Prepare Memory</a:t>
            </a:r>
            <a:endParaRPr sz="15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mp-body-0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29590" y="2594610"/>
            <a:ext cx="2209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压缩 / 建索引 / 存储外部记忆</a:t>
            </a:r>
            <a:endParaRPr sz="12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mp-stage-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215640" y="1556385"/>
            <a:ext cx="2571750" cy="1543050"/>
          </a:xfrm>
          <a:prstGeom prst="roundRect">
            <a:avLst>
              <a:gd name="adj" fmla="val 7407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11" name="mp-no-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387090" y="173736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mp-title-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387090" y="2146935"/>
            <a:ext cx="2209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Compute Relevancy</a:t>
            </a:r>
            <a:endParaRPr sz="15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mp-body-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387090" y="2594610"/>
            <a:ext cx="2209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 query 与候选记忆相关性</a:t>
            </a:r>
            <a:endParaRPr sz="12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mp-stage-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073140" y="1556385"/>
            <a:ext cx="2571750" cy="1543050"/>
          </a:xfrm>
          <a:prstGeom prst="roundRect">
            <a:avLst>
              <a:gd name="adj" fmla="val 7407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15" name="mp-no-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244590" y="173736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mp-title-2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244590" y="2146935"/>
            <a:ext cx="2209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Retrieval</a:t>
            </a:r>
            <a:endParaRPr sz="15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mp-body-2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244590" y="2594610"/>
            <a:ext cx="2209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选择、搬运被命中的 KV / 文档 / embedding</a:t>
            </a:r>
            <a:endParaRPr sz="12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mp-stage-3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8930640" y="1556385"/>
            <a:ext cx="2571750" cy="1543050"/>
          </a:xfrm>
          <a:prstGeom prst="roundRect">
            <a:avLst>
              <a:gd name="adj" fmla="val 7407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19" name="mp-no-3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9102090" y="173736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3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mp-title-3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9102090" y="2146935"/>
            <a:ext cx="2209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Apply to Inference</a:t>
            </a:r>
            <a:endParaRPr sz="15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mp-body-3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9102090" y="2594610"/>
            <a:ext cx="2209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把检索结果用于 attention 或生成</a:t>
            </a:r>
            <a:endParaRPr sz="12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mp-fact"/>
          <p:cNvSpPr>
            <a:spLocks noGrp="1"/>
          </p:cNvSpPr>
          <p:nvPr/>
        </p:nvSpPr>
        <p:spPr>
          <a:xfrm>
            <a:off x="400050" y="5166360"/>
            <a:ext cx="11334750" cy="438150"/>
          </a:xfrm>
          <a:prstGeom prst="roundRect">
            <a:avLst>
              <a:gd name="adj" fmla="val 26087"/>
            </a:avLst>
          </a:prstGeom>
          <a:solidFill>
            <a:srgbClr val="F6E2CE"/>
          </a:solidFill>
          <a:ln w="0">
            <a:noFill/>
            <a:prstDash val="solid"/>
          </a:ln>
        </p:spPr>
      </p:sp>
      <p:sp>
        <p:nvSpPr>
          <p:cNvPr id="23" name="mp-fact-text"/>
          <p:cNvSpPr>
            <a:spLocks noGrp="1"/>
          </p:cNvSpPr>
          <p:nvPr/>
        </p:nvSpPr>
        <p:spPr>
          <a:xfrm>
            <a:off x="590550" y="5290185"/>
            <a:ext cx="1095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论文测得 memory processing 占总延迟 22%–97%：这使“围绕内存处理算子链卸载”成为明确的系统优化目标。</a:t>
            </a:r>
            <a:endParaRPr sz="13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mp-tag"/>
          <p:cNvSpPr>
            <a:spLocks noGrp="1"/>
          </p:cNvSpPr>
          <p:nvPr/>
        </p:nvSpPr>
        <p:spPr>
          <a:xfrm>
            <a:off x="400050" y="6021070"/>
            <a:ext cx="11334750" cy="323850"/>
          </a:xfrm>
          <a:prstGeom prst="roundRect">
            <a:avLst>
              <a:gd name="adj" fmla="val 35294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5" name="mp-tag-text"/>
          <p:cNvSpPr>
            <a:spLocks noGrp="1"/>
          </p:cNvSpPr>
          <p:nvPr/>
        </p:nvSpPr>
        <p:spPr>
          <a:xfrm>
            <a:off x="533400" y="6087745"/>
            <a:ext cx="10306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论文：Understand and Accelerate Memory Processing Pipeline for Large Language Model Inference</a:t>
            </a:r>
            <a:endParaRPr sz="9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3575621" y="3634994"/>
                <a:ext cx="4638040" cy="65532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𝐴𝑟𝑖𝑡ℎ𝑚𝑒𝑡𝑖𝑐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𝐼𝑛𝑡𝑒𝑛𝑠𝑖𝑡𝑦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 = 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𝐹𝐿𝑂𝑃𝑆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𝐵𝑦𝑡𝑒𝑠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𝑡𝑟𝑎𝑛𝑠𝑓𝑒𝑟𝑟𝑒𝑑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621" y="3634994"/>
                <a:ext cx="4638040" cy="655320"/>
              </a:xfrm>
              <a:prstGeom prst="rect">
                <a:avLst/>
              </a:prstGeom>
              <a:blipFill rotWithShape="1">
                <a:blip r:embed="rId17"/>
                <a:stretch>
                  <a:fillRect l="-12" t="-39" r="12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-14"/>
          <p:cNvSpPr>
            <a:spLocks noGrp="1"/>
          </p:cNvSpPr>
          <p:nvPr/>
        </p:nvSpPr>
        <p:spPr>
          <a:xfrm>
            <a:off x="400050" y="60960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Memory Pipeline：</a:t>
            </a:r>
            <a:r>
              <a:rPr lang="zh-CN"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对常见</a:t>
            </a:r>
            <a:r>
              <a:rPr lang="en-US" altLang="zh-CN"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memory process</a:t>
            </a:r>
            <a:r>
              <a:rPr lang="zh-CN" altLang="en-US"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划分</a:t>
            </a:r>
            <a:endParaRPr lang="zh-CN" altLang="en-US" sz="30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rule-14"/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pic>
        <p:nvPicPr>
          <p:cNvPr id="4" name="图片 3" descr="Summary of LLM inference optimizations and the computations in their memory processing pipelin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1412875"/>
            <a:ext cx="11506200" cy="50577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-14"/>
          <p:cNvSpPr>
            <a:spLocks noGrp="1"/>
          </p:cNvSpPr>
          <p:nvPr/>
        </p:nvSpPr>
        <p:spPr>
          <a:xfrm>
            <a:off x="400050" y="60960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Memory Pipeline：</a:t>
            </a:r>
            <a:r>
              <a:rPr lang="zh-CN"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计算强度和访存</a:t>
            </a:r>
            <a:r>
              <a:rPr lang="zh-CN"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方式</a:t>
            </a:r>
            <a:endParaRPr lang="zh-CN" sz="30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rule-14"/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pic>
        <p:nvPicPr>
          <p:cNvPr id="4" name="图片 3" descr="arithmetic intensity of memory process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50" y="1844675"/>
            <a:ext cx="10953750" cy="41814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kicker-14"/>
          <p:cNvSpPr>
            <a:spLocks noGrp="1"/>
          </p:cNvSpPr>
          <p:nvPr/>
        </p:nvSpPr>
        <p:spPr>
          <a:xfrm>
            <a:off x="400050" y="247650"/>
            <a:ext cx="514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方向二 · 算子级协作</a:t>
            </a:r>
            <a:endParaRPr sz="10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-14"/>
          <p:cNvSpPr>
            <a:spLocks noGrp="1"/>
          </p:cNvSpPr>
          <p:nvPr/>
        </p:nvSpPr>
        <p:spPr>
          <a:xfrm>
            <a:off x="400050" y="60960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Memory Pipeline：三种映射方式与端到端结果</a:t>
            </a:r>
            <a:endParaRPr sz="30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rule-14"/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footer-14"/>
          <p:cNvSpPr>
            <a:spLocks noGrp="1"/>
          </p:cNvSpPr>
          <p:nvPr/>
        </p:nvSpPr>
        <p:spPr>
          <a:xfrm>
            <a:off x="1122045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9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mp2-card-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00050" y="1714500"/>
            <a:ext cx="3486150" cy="2315845"/>
          </a:xfrm>
          <a:prstGeom prst="roundRect">
            <a:avLst>
              <a:gd name="adj" fmla="val 3279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6" name="mp2-title-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9600" y="1924050"/>
            <a:ext cx="3067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General Setup</a:t>
            </a:r>
            <a:endParaRPr sz="1725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mp2-work-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09600" y="2362200"/>
            <a:ext cx="3067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Sparse Attention / RAG</a:t>
            </a:r>
            <a:endParaRPr sz="12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mp2-rule-0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09600" y="2781300"/>
            <a:ext cx="30670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9" name="mp2-map-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23570" y="2797175"/>
            <a:ext cx="32385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GPU：完整 KV、文档、模型</a:t>
            </a:r>
            <a:endParaRPr sz="12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FPGA：压缩索引 + relevancy +</a:t>
            </a:r>
            <a:r>
              <a:rPr lang="en-US"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retrieval</a:t>
            </a:r>
            <a:endParaRPr sz="12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返回：索引而非完整 KV</a:t>
            </a:r>
            <a:endParaRPr sz="12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mp2-result-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42620" y="3438525"/>
            <a:ext cx="30670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相关算子 5.2–7.7×</a:t>
            </a:r>
            <a:endParaRPr sz="1425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4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端到端最高 2.2×</a:t>
            </a:r>
            <a:endParaRPr sz="1425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mp2-card-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248150" y="1714500"/>
            <a:ext cx="3486150" cy="2263775"/>
          </a:xfrm>
          <a:prstGeom prst="roundRect">
            <a:avLst>
              <a:gd name="adj" fmla="val 3279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12" name="mp2-title-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457700" y="1924050"/>
            <a:ext cx="3067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Synthesized Memory</a:t>
            </a:r>
            <a:endParaRPr sz="1725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mp2-work-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457700" y="2362200"/>
            <a:ext cx="3067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MemAgent</a:t>
            </a:r>
            <a:endParaRPr sz="12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mp2-rule-1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4457700" y="2781300"/>
            <a:ext cx="30670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5" name="mp2-map-1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457700" y="2787015"/>
            <a:ext cx="30670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GPU：prefill</a:t>
            </a:r>
            <a:endParaRPr sz="12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FPGA：decode memory agent</a:t>
            </a:r>
            <a:endParaRPr sz="12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batch 过大时回退 GPU-only</a:t>
            </a:r>
            <a:endParaRPr sz="12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mp2-result-1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439920" y="3438525"/>
            <a:ext cx="30670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batch=1：1.85×</a:t>
            </a:r>
            <a:endParaRPr sz="1425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4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batch=4：0.93×</a:t>
            </a:r>
            <a:endParaRPr sz="1425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mp2-card-2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8096250" y="1714500"/>
            <a:ext cx="3486150" cy="2263140"/>
          </a:xfrm>
          <a:prstGeom prst="roundRect">
            <a:avLst>
              <a:gd name="adj" fmla="val 3279"/>
            </a:avLst>
          </a:prstGeom>
          <a:solidFill>
            <a:schemeClr val="accent6">
              <a:lumMod val="20000"/>
              <a:lumOff val="80000"/>
            </a:schemeClr>
          </a:solidFill>
          <a:ln w="0">
            <a:noFill/>
            <a:prstDash val="solid"/>
          </a:ln>
        </p:spPr>
      </p:sp>
      <p:sp>
        <p:nvSpPr>
          <p:cNvPr id="18" name="mp2-title-2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8305800" y="1924050"/>
            <a:ext cx="3067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Memory as Context</a:t>
            </a:r>
            <a:endParaRPr sz="1725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mp2-work-2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8305800" y="2362200"/>
            <a:ext cx="3067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Titans / HMT</a:t>
            </a:r>
            <a:endParaRPr sz="12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mp2-rule-2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8305800" y="2781300"/>
            <a:ext cx="30670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1" name="mp2-map-2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8328660" y="2771775"/>
            <a:ext cx="324104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 embedding 常驻 FPGA HBM</a:t>
            </a:r>
            <a:endParaRPr sz="12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FPGA 执行 projection / cross-attention</a:t>
            </a:r>
            <a:endParaRPr sz="12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只返回小 embedding</a:t>
            </a:r>
            <a:endParaRPr sz="12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mp2-result-2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8305800" y="3438525"/>
            <a:ext cx="30670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 1.3–1.6×</a:t>
            </a:r>
            <a:endParaRPr sz="1425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4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 GPU 显存压力</a:t>
            </a:r>
            <a:endParaRPr sz="1425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mp2-tag"/>
          <p:cNvSpPr>
            <a:spLocks noGrp="1"/>
          </p:cNvSpPr>
          <p:nvPr/>
        </p:nvSpPr>
        <p:spPr>
          <a:xfrm>
            <a:off x="400050" y="6153150"/>
            <a:ext cx="10572750" cy="323850"/>
          </a:xfrm>
          <a:prstGeom prst="roundRect">
            <a:avLst>
              <a:gd name="adj" fmla="val 35294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25" name="mp2-tag-text"/>
          <p:cNvSpPr>
            <a:spLocks noGrp="1"/>
          </p:cNvSpPr>
          <p:nvPr/>
        </p:nvSpPr>
        <p:spPr>
          <a:xfrm>
            <a:off x="533400" y="6219825"/>
            <a:ext cx="10306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论文：Understand and Accelerate Memory Processing Pipeline for Large Language Model Inference</a:t>
            </a:r>
            <a:endParaRPr sz="9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" name="图片 26" descr="三种FPGA-GPU协同设计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63525" y="4127500"/>
            <a:ext cx="11496675" cy="18192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kicker-14"/>
          <p:cNvSpPr>
            <a:spLocks noGrp="1"/>
          </p:cNvSpPr>
          <p:nvPr/>
        </p:nvSpPr>
        <p:spPr>
          <a:xfrm>
            <a:off x="400050" y="247650"/>
            <a:ext cx="514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方向二 · 算子级协作</a:t>
            </a:r>
            <a:endParaRPr sz="10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-14"/>
          <p:cNvSpPr>
            <a:spLocks noGrp="1"/>
          </p:cNvSpPr>
          <p:nvPr/>
        </p:nvSpPr>
        <p:spPr>
          <a:xfrm>
            <a:off x="400050" y="60960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Memory Pipeline：</a:t>
            </a:r>
            <a:r>
              <a:rPr lang="en-US"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General Setup K</a:t>
            </a:r>
            <a:r>
              <a:rPr lang="en-US"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ernel</a:t>
            </a:r>
            <a:endParaRPr lang="en-US" sz="30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mp2-card-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00050" y="1714500"/>
            <a:ext cx="3486150" cy="3491230"/>
          </a:xfrm>
          <a:prstGeom prst="roundRect">
            <a:avLst>
              <a:gd name="adj" fmla="val 3279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6" name="mp2-title-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9600" y="1924050"/>
            <a:ext cx="3067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General Setup</a:t>
            </a:r>
            <a:endParaRPr sz="1725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mp2-work-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09600" y="2362200"/>
            <a:ext cx="3067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Sparse Attention / RAG</a:t>
            </a:r>
            <a:endParaRPr sz="12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mp2-rule-0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09600" y="2781300"/>
            <a:ext cx="30670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9" name="mp2-map-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23570" y="2797175"/>
            <a:ext cx="32385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GPU：完整 KV、文档、模型</a:t>
            </a:r>
            <a:endParaRPr sz="12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FPGA：压缩索引 + relevancy +</a:t>
            </a:r>
            <a:r>
              <a:rPr lang="en-US"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retrieval</a:t>
            </a:r>
            <a:endParaRPr sz="12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返回：索引而非完整 KV</a:t>
            </a:r>
            <a:endParaRPr sz="12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mp2-result-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23570" y="3644900"/>
            <a:ext cx="30670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相关算子 5.2–7.7×</a:t>
            </a:r>
            <a:endParaRPr sz="1425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4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端到端最高 2.2×</a:t>
            </a:r>
            <a:endParaRPr sz="1425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mp2-tag"/>
          <p:cNvSpPr>
            <a:spLocks noGrp="1"/>
          </p:cNvSpPr>
          <p:nvPr/>
        </p:nvSpPr>
        <p:spPr>
          <a:xfrm>
            <a:off x="400050" y="6153150"/>
            <a:ext cx="10572750" cy="323850"/>
          </a:xfrm>
          <a:prstGeom prst="roundRect">
            <a:avLst>
              <a:gd name="adj" fmla="val 35294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25" name="mp2-tag-text"/>
          <p:cNvSpPr>
            <a:spLocks noGrp="1"/>
          </p:cNvSpPr>
          <p:nvPr/>
        </p:nvSpPr>
        <p:spPr>
          <a:xfrm>
            <a:off x="533400" y="6219825"/>
            <a:ext cx="10306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论文：Understand and Accelerate Memory Processing Pipeline for Large Language Model Inference</a:t>
            </a:r>
            <a:endParaRPr sz="9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 descr="general steup kernel设计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8165" y="1916430"/>
            <a:ext cx="7495540" cy="31273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9600" y="4364990"/>
            <a:ext cx="4064000" cy="5308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14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由于FPGA上只承载部分计算，</a:t>
            </a:r>
            <a:endParaRPr sz="1425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4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设计相对简单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kicker-15"/>
          <p:cNvSpPr>
            <a:spLocks noGrp="1"/>
          </p:cNvSpPr>
          <p:nvPr/>
        </p:nvSpPr>
        <p:spPr>
          <a:xfrm>
            <a:off x="400050" y="247650"/>
            <a:ext cx="514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方向二 · 算子级协作</a:t>
            </a:r>
            <a:endParaRPr sz="10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-15"/>
          <p:cNvSpPr>
            <a:spLocks noGrp="1"/>
          </p:cNvSpPr>
          <p:nvPr/>
        </p:nvSpPr>
        <p:spPr>
          <a:xfrm>
            <a:off x="400050" y="60960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算子级②：Persistent-State GDN 的机会来自“状态常驻”</a:t>
            </a:r>
            <a:endParaRPr sz="30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rule-15"/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footer-15"/>
          <p:cNvSpPr>
            <a:spLocks noGrp="1"/>
          </p:cNvSpPr>
          <p:nvPr/>
        </p:nvSpPr>
        <p:spPr>
          <a:xfrm>
            <a:off x="1122045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9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gdn-problem"/>
          <p:cNvSpPr>
            <a:spLocks noGrp="1"/>
          </p:cNvSpPr>
          <p:nvPr/>
        </p:nvSpPr>
        <p:spPr>
          <a:xfrm>
            <a:off x="400050" y="1714500"/>
            <a:ext cx="5143500" cy="3714750"/>
          </a:xfrm>
          <a:prstGeom prst="roundRect">
            <a:avLst>
              <a:gd name="adj" fmla="val 3077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6" name="gdn-problem-title"/>
          <p:cNvSpPr>
            <a:spLocks noGrp="1"/>
          </p:cNvSpPr>
          <p:nvPr/>
        </p:nvSpPr>
        <p:spPr>
          <a:xfrm>
            <a:off x="666750" y="1981200"/>
            <a:ext cx="295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0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GDN</a:t>
            </a:r>
            <a:r>
              <a:rPr lang="zh-CN" altLang="en-US" sz="20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特点</a:t>
            </a:r>
            <a:endParaRPr lang="zh-CN" altLang="en-US" sz="2025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gdn-state-bg"/>
          <p:cNvSpPr>
            <a:spLocks noGrp="1"/>
          </p:cNvSpPr>
          <p:nvPr/>
        </p:nvSpPr>
        <p:spPr>
          <a:xfrm>
            <a:off x="666750" y="2609850"/>
            <a:ext cx="200025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8" name="gdn-state-value"/>
          <p:cNvSpPr>
            <a:spLocks noGrp="1"/>
          </p:cNvSpPr>
          <p:nvPr/>
        </p:nvSpPr>
        <p:spPr>
          <a:xfrm>
            <a:off x="838200" y="2771775"/>
            <a:ext cx="1657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3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MiB</a:t>
            </a:r>
            <a:endParaRPr sz="2325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gdn-state-label"/>
          <p:cNvSpPr>
            <a:spLocks noGrp="1"/>
          </p:cNvSpPr>
          <p:nvPr/>
        </p:nvSpPr>
        <p:spPr>
          <a:xfrm>
            <a:off x="838200" y="333375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单层 persistent state</a:t>
            </a:r>
            <a:r>
              <a:rPr lang="en-US"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较小，可常驻</a:t>
            </a:r>
            <a:r>
              <a:rPr lang="en-US" altLang="zh-CN"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FPGA</a:t>
            </a:r>
            <a:endParaRPr lang="en-US" altLang="zh-CN" sz="12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gdn-traffic-bg"/>
          <p:cNvSpPr>
            <a:spLocks noGrp="1"/>
          </p:cNvSpPr>
          <p:nvPr/>
        </p:nvSpPr>
        <p:spPr>
          <a:xfrm>
            <a:off x="2895600" y="2609850"/>
            <a:ext cx="230505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1" name="gdn-traffic-value"/>
          <p:cNvSpPr>
            <a:spLocks noGrp="1"/>
          </p:cNvSpPr>
          <p:nvPr/>
        </p:nvSpPr>
        <p:spPr>
          <a:xfrm>
            <a:off x="3067050" y="2771775"/>
            <a:ext cx="1962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MiB/token</a:t>
            </a:r>
            <a:endParaRPr sz="19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gdn-traffic-label"/>
          <p:cNvSpPr>
            <a:spLocks noGrp="1"/>
          </p:cNvSpPr>
          <p:nvPr/>
        </p:nvSpPr>
        <p:spPr>
          <a:xfrm>
            <a:off x="3067050" y="3333750"/>
            <a:ext cx="1962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每层状态读写流量</a:t>
            </a:r>
            <a:endParaRPr sz="12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gdn-ai-bg"/>
          <p:cNvSpPr>
            <a:spLocks noGrp="1"/>
          </p:cNvSpPr>
          <p:nvPr/>
        </p:nvSpPr>
        <p:spPr>
          <a:xfrm>
            <a:off x="666750" y="4019550"/>
            <a:ext cx="200025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4" name="gdn-ai-value"/>
          <p:cNvSpPr>
            <a:spLocks noGrp="1"/>
          </p:cNvSpPr>
          <p:nvPr/>
        </p:nvSpPr>
        <p:spPr>
          <a:xfrm>
            <a:off x="838200" y="4181475"/>
            <a:ext cx="1797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≈</a:t>
            </a:r>
            <a:r>
              <a:rPr lang="en-US" sz="18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0.87</a:t>
            </a:r>
            <a:r>
              <a:rPr sz="18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FLOP/B</a:t>
            </a:r>
            <a:endParaRPr sz="18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gdn-ai-label"/>
          <p:cNvSpPr>
            <a:spLocks noGrp="1"/>
          </p:cNvSpPr>
          <p:nvPr/>
        </p:nvSpPr>
        <p:spPr>
          <a:xfrm>
            <a:off x="838200" y="474345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算术强度</a:t>
            </a:r>
            <a:r>
              <a:rPr lang="zh-CN"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低，可以看作</a:t>
            </a:r>
            <a:r>
              <a:rPr lang="en-US" altLang="zh-CN"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memory </a:t>
            </a:r>
            <a:r>
              <a:rPr lang="en-US" altLang="zh-CN"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bound</a:t>
            </a:r>
            <a:endParaRPr lang="en-US" altLang="zh-CN" sz="12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gdn-flop-bg"/>
          <p:cNvSpPr>
            <a:spLocks noGrp="1"/>
          </p:cNvSpPr>
          <p:nvPr/>
        </p:nvSpPr>
        <p:spPr>
          <a:xfrm>
            <a:off x="2895600" y="4019550"/>
            <a:ext cx="230505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7" name="gdn-flop-value"/>
          <p:cNvSpPr>
            <a:spLocks noGrp="1"/>
          </p:cNvSpPr>
          <p:nvPr/>
        </p:nvSpPr>
        <p:spPr>
          <a:xfrm>
            <a:off x="3067050" y="4181475"/>
            <a:ext cx="1962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≈4.2 MFLOPs</a:t>
            </a:r>
            <a:endParaRPr sz="19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gdn-flop-label"/>
          <p:cNvSpPr>
            <a:spLocks noGrp="1"/>
          </p:cNvSpPr>
          <p:nvPr/>
        </p:nvSpPr>
        <p:spPr>
          <a:xfrm>
            <a:off x="3067050" y="4743450"/>
            <a:ext cx="1962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 token 单层计算量</a:t>
            </a:r>
            <a:endParaRPr sz="12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gdn-arrow"/>
          <p:cNvSpPr>
            <a:spLocks noGrp="1"/>
          </p:cNvSpPr>
          <p:nvPr/>
        </p:nvSpPr>
        <p:spPr>
          <a:xfrm>
            <a:off x="6000750" y="1905000"/>
            <a:ext cx="533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状态搬运主导延迟  →  把状态常驻 FPGA BRAM/URAM</a:t>
            </a:r>
            <a:endParaRPr sz="19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gdn-a-bar"/>
          <p:cNvSpPr>
            <a:spLocks noGrp="1"/>
          </p:cNvSpPr>
          <p:nvPr/>
        </p:nvSpPr>
        <p:spPr>
          <a:xfrm>
            <a:off x="6000750" y="2771775"/>
            <a:ext cx="47625" cy="6096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1" name="gdn-a-title"/>
          <p:cNvSpPr>
            <a:spLocks noGrp="1"/>
          </p:cNvSpPr>
          <p:nvPr/>
        </p:nvSpPr>
        <p:spPr>
          <a:xfrm>
            <a:off x="6191250" y="2724150"/>
            <a:ext cx="5143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目标算子</a:t>
            </a:r>
            <a:endParaRPr sz="16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gdn-a-body"/>
          <p:cNvSpPr>
            <a:spLocks noGrp="1"/>
          </p:cNvSpPr>
          <p:nvPr/>
        </p:nvSpPr>
        <p:spPr>
          <a:xfrm>
            <a:off x="6191250" y="3057525"/>
            <a:ext cx="514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Qwen3-Next 风格单个 Gated DeltaNet 层；batch=1、FP32。</a:t>
            </a:r>
            <a:endParaRPr sz="12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gdn-b-bar"/>
          <p:cNvSpPr>
            <a:spLocks noGrp="1"/>
          </p:cNvSpPr>
          <p:nvPr/>
        </p:nvSpPr>
        <p:spPr>
          <a:xfrm>
            <a:off x="6000750" y="3819525"/>
            <a:ext cx="47625" cy="60960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24" name="gdn-b-title"/>
          <p:cNvSpPr>
            <a:spLocks noGrp="1"/>
          </p:cNvSpPr>
          <p:nvPr/>
        </p:nvSpPr>
        <p:spPr>
          <a:xfrm>
            <a:off x="6191250" y="3771900"/>
            <a:ext cx="5143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算法变换</a:t>
            </a:r>
            <a:endParaRPr sz="16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gdn-b-body"/>
          <p:cNvSpPr>
            <a:spLocks noGrp="1"/>
          </p:cNvSpPr>
          <p:nvPr/>
        </p:nvSpPr>
        <p:spPr>
          <a:xfrm>
            <a:off x="6191250" y="4105275"/>
            <a:ext cx="514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共享一次状态读取，同时计算 Sᵀk 与 Sᵀq，把状态遍历从 3 次降到 2 次。</a:t>
            </a:r>
            <a:endParaRPr sz="12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gdn-c-bar"/>
          <p:cNvSpPr>
            <a:spLocks noGrp="1"/>
          </p:cNvSpPr>
          <p:nvPr/>
        </p:nvSpPr>
        <p:spPr>
          <a:xfrm>
            <a:off x="6000750" y="4867275"/>
            <a:ext cx="47625" cy="60960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27" name="gdn-c-title"/>
          <p:cNvSpPr>
            <a:spLocks noGrp="1"/>
          </p:cNvSpPr>
          <p:nvPr/>
        </p:nvSpPr>
        <p:spPr>
          <a:xfrm>
            <a:off x="6191250" y="4819650"/>
            <a:ext cx="5143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协作边界</a:t>
            </a:r>
            <a:endParaRPr sz="16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gdn-c-body"/>
          <p:cNvSpPr>
            <a:spLocks noGrp="1"/>
          </p:cNvSpPr>
          <p:nvPr/>
        </p:nvSpPr>
        <p:spPr>
          <a:xfrm>
            <a:off x="6191250" y="5153025"/>
            <a:ext cx="514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 运行其余网络；FPGA 接收 q/k/v 等小向量并返回该层输出。</a:t>
            </a:r>
            <a:endParaRPr sz="12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gdn-tag"/>
          <p:cNvSpPr>
            <a:spLocks noGrp="1"/>
          </p:cNvSpPr>
          <p:nvPr/>
        </p:nvSpPr>
        <p:spPr>
          <a:xfrm>
            <a:off x="400050" y="6000750"/>
            <a:ext cx="10858500" cy="323850"/>
          </a:xfrm>
          <a:prstGeom prst="roundRect">
            <a:avLst>
              <a:gd name="adj" fmla="val 35294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30" name="gdn-tag-text"/>
          <p:cNvSpPr>
            <a:spLocks noGrp="1"/>
          </p:cNvSpPr>
          <p:nvPr/>
        </p:nvSpPr>
        <p:spPr>
          <a:xfrm>
            <a:off x="533400" y="6067425"/>
            <a:ext cx="10591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论文：A Persistent-State Dataflow Accelerator for Memory-Bound Linear Attention Decode on FPGA</a:t>
            </a:r>
            <a:endParaRPr sz="9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kicker-16"/>
          <p:cNvSpPr>
            <a:spLocks noGrp="1"/>
          </p:cNvSpPr>
          <p:nvPr/>
        </p:nvSpPr>
        <p:spPr>
          <a:xfrm>
            <a:off x="400050" y="247650"/>
            <a:ext cx="514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方向二 · 算子级协作</a:t>
            </a:r>
            <a:endParaRPr sz="10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-16"/>
          <p:cNvSpPr>
            <a:spLocks noGrp="1"/>
          </p:cNvSpPr>
          <p:nvPr/>
        </p:nvSpPr>
        <p:spPr>
          <a:xfrm>
            <a:off x="400050" y="60960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Persistent-State GDN：五阶段数据流与实测证据</a:t>
            </a:r>
            <a:endParaRPr sz="30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rule-16"/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footer-16"/>
          <p:cNvSpPr>
            <a:spLocks noGrp="1"/>
          </p:cNvSpPr>
          <p:nvPr/>
        </p:nvSpPr>
        <p:spPr>
          <a:xfrm>
            <a:off x="1122045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9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gdn-img-bg"/>
          <p:cNvSpPr>
            <a:spLocks noGrp="1"/>
          </p:cNvSpPr>
          <p:nvPr/>
        </p:nvSpPr>
        <p:spPr>
          <a:xfrm>
            <a:off x="400050" y="1657350"/>
            <a:ext cx="6953250" cy="3390900"/>
          </a:xfrm>
          <a:prstGeom prst="roundRect">
            <a:avLst>
              <a:gd name="adj" fmla="val 3371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" y="2119500"/>
            <a:ext cx="6648450" cy="2466600"/>
          </a:xfrm>
          <a:prstGeom prst="rect">
            <a:avLst/>
          </a:prstGeom>
        </p:spPr>
      </p:pic>
      <p:sp>
        <p:nvSpPr>
          <p:cNvPr id="7" name="gdn-phase-title"/>
          <p:cNvSpPr>
            <a:spLocks noGrp="1"/>
          </p:cNvSpPr>
          <p:nvPr/>
        </p:nvSpPr>
        <p:spPr>
          <a:xfrm>
            <a:off x="7791450" y="173355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五个阶段</a:t>
            </a:r>
            <a:endParaRPr sz="18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gdn-phases"/>
          <p:cNvSpPr>
            <a:spLocks noGrp="1"/>
          </p:cNvSpPr>
          <p:nvPr/>
        </p:nvSpPr>
        <p:spPr>
          <a:xfrm>
            <a:off x="7791450" y="2247900"/>
            <a:ext cx="3429000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q·k 标量</a:t>
            </a:r>
            <a:endParaRPr sz="142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42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共享读 S：Sᵀk 与 Sᵀq</a:t>
            </a:r>
            <a:endParaRPr sz="142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42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delta 修正</a:t>
            </a:r>
            <a:endParaRPr sz="142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42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输出修正</a:t>
            </a:r>
            <a:endParaRPr sz="142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42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写回状态更新</a:t>
            </a:r>
            <a:endParaRPr sz="142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gdn-r1-bg"/>
          <p:cNvSpPr>
            <a:spLocks noGrp="1"/>
          </p:cNvSpPr>
          <p:nvPr/>
        </p:nvSpPr>
        <p:spPr>
          <a:xfrm>
            <a:off x="7791450" y="3962400"/>
            <a:ext cx="1657350" cy="1200150"/>
          </a:xfrm>
          <a:prstGeom prst="roundRect">
            <a:avLst>
              <a:gd name="adj" fmla="val 9524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10" name="gdn-r1-value"/>
          <p:cNvSpPr>
            <a:spLocks noGrp="1"/>
          </p:cNvSpPr>
          <p:nvPr/>
        </p:nvSpPr>
        <p:spPr>
          <a:xfrm>
            <a:off x="7962900" y="4124325"/>
            <a:ext cx="1314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3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285 μs</a:t>
            </a:r>
            <a:endParaRPr sz="2325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gdn-r1-label"/>
          <p:cNvSpPr>
            <a:spLocks noGrp="1"/>
          </p:cNvSpPr>
          <p:nvPr/>
        </p:nvSpPr>
        <p:spPr>
          <a:xfrm>
            <a:off x="7962900" y="4686300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H100 实测</a:t>
            </a:r>
            <a:endParaRPr sz="12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gdn-r2-bg"/>
          <p:cNvSpPr>
            <a:spLocks noGrp="1"/>
          </p:cNvSpPr>
          <p:nvPr/>
        </p:nvSpPr>
        <p:spPr>
          <a:xfrm>
            <a:off x="9658350" y="3962400"/>
            <a:ext cx="1809750" cy="1200150"/>
          </a:xfrm>
          <a:prstGeom prst="roundRect">
            <a:avLst>
              <a:gd name="adj" fmla="val 9524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13" name="gdn-r2-value"/>
          <p:cNvSpPr>
            <a:spLocks noGrp="1"/>
          </p:cNvSpPr>
          <p:nvPr/>
        </p:nvSpPr>
        <p:spPr>
          <a:xfrm>
            <a:off x="9829800" y="4124325"/>
            <a:ext cx="1466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3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161.7 μs</a:t>
            </a:r>
            <a:endParaRPr sz="2325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gdn-r2-label"/>
          <p:cNvSpPr>
            <a:spLocks noGrp="1"/>
          </p:cNvSpPr>
          <p:nvPr/>
        </p:nvSpPr>
        <p:spPr>
          <a:xfrm>
            <a:off x="9719310" y="4686300"/>
            <a:ext cx="165481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FPGA H_iter=2 实测</a:t>
            </a:r>
            <a:endParaRPr sz="12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gdn-note"/>
          <p:cNvSpPr>
            <a:spLocks noGrp="1"/>
          </p:cNvSpPr>
          <p:nvPr/>
        </p:nvSpPr>
        <p:spPr>
          <a:xfrm>
            <a:off x="400050" y="5257800"/>
            <a:ext cx="11068050" cy="805815"/>
          </a:xfrm>
          <a:prstGeom prst="roundRect">
            <a:avLst>
              <a:gd name="adj" fmla="val 18182"/>
            </a:avLst>
          </a:prstGeom>
          <a:solidFill>
            <a:srgbClr val="F6E2CE"/>
          </a:solidFill>
          <a:ln w="0">
            <a:noFill/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6" name="gdn-note-text"/>
          <p:cNvSpPr>
            <a:spLocks noGrp="1"/>
          </p:cNvSpPr>
          <p:nvPr/>
        </p:nvSpPr>
        <p:spPr>
          <a:xfrm>
            <a:off x="552450" y="5281295"/>
            <a:ext cx="10668000" cy="7994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该论文比较的仅为单个 </a:t>
            </a:r>
            <a:r>
              <a:rPr lang="en-US" altLang="zh-CN"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GDN layer </a:t>
            </a:r>
            <a:r>
              <a:rPr lang="zh-CN" altLang="en-US"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 </a:t>
            </a:r>
            <a:r>
              <a:rPr lang="en-US" altLang="zh-CN"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decode </a:t>
            </a:r>
            <a:r>
              <a:rPr lang="zh-CN" altLang="en-US"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延迟，而不是整个 </a:t>
            </a:r>
            <a:r>
              <a:rPr lang="en-US" altLang="zh-CN"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decode </a:t>
            </a:r>
            <a:r>
              <a:rPr lang="zh-CN" altLang="en-US"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延迟，只是证明这样加速有效。我们可以进一步扩展，比如尝试将</a:t>
            </a:r>
            <a:r>
              <a:rPr lang="en-US" altLang="zh-CN"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Kimi K3</a:t>
            </a:r>
            <a:r>
              <a:rPr lang="zh-CN" altLang="en-US"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中的</a:t>
            </a:r>
            <a:r>
              <a:rPr lang="en-US" altLang="zh-CN"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GDN</a:t>
            </a:r>
            <a:r>
              <a:rPr lang="zh-CN" altLang="en-US"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变种</a:t>
            </a:r>
            <a:r>
              <a:rPr lang="en-US" altLang="zh-CN"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KDA</a:t>
            </a:r>
            <a:r>
              <a:rPr lang="zh-CN" altLang="en-US"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下载到</a:t>
            </a:r>
            <a:r>
              <a:rPr lang="en-US" altLang="zh-CN"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FPGA</a:t>
            </a:r>
            <a:r>
              <a:rPr lang="zh-CN" altLang="en-US"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，设计多层</a:t>
            </a:r>
            <a:r>
              <a:rPr lang="en-US" altLang="zh-CN"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FPGA-GPU</a:t>
            </a:r>
            <a:r>
              <a:rPr lang="zh-CN" altLang="en-US"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协同调度，尝试实现</a:t>
            </a:r>
            <a:r>
              <a:rPr lang="en-US" altLang="zh-CN"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MTP Replay</a:t>
            </a:r>
            <a:r>
              <a:rPr lang="zh-CN" altLang="en-US"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KCP Scan</a:t>
            </a:r>
            <a:r>
              <a:rPr lang="zh-CN" altLang="en-US"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等技术。除此之位，我们还可以尝试</a:t>
            </a:r>
            <a:r>
              <a:rPr lang="en-US" altLang="zh-CN"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MOE routing</a:t>
            </a:r>
            <a:r>
              <a:rPr lang="zh-CN" altLang="en-US"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等计算下载到</a:t>
            </a:r>
            <a:r>
              <a:rPr lang="en-US" altLang="zh-CN"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FPGA</a:t>
            </a:r>
            <a:r>
              <a:rPr lang="zh-CN" altLang="en-US"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3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gdn2-tag"/>
          <p:cNvSpPr>
            <a:spLocks noGrp="1"/>
          </p:cNvSpPr>
          <p:nvPr/>
        </p:nvSpPr>
        <p:spPr>
          <a:xfrm>
            <a:off x="457200" y="6314440"/>
            <a:ext cx="10858500" cy="323850"/>
          </a:xfrm>
          <a:prstGeom prst="roundRect">
            <a:avLst>
              <a:gd name="adj" fmla="val 35294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18" name="gdn2-tag-text"/>
          <p:cNvSpPr>
            <a:spLocks noGrp="1"/>
          </p:cNvSpPr>
          <p:nvPr/>
        </p:nvSpPr>
        <p:spPr>
          <a:xfrm>
            <a:off x="590550" y="6381115"/>
            <a:ext cx="10591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论文：A Persistent-State Dataflow Accelerator for Memory-Bound Linear Attention Decode on FPGA</a:t>
            </a:r>
            <a:endParaRPr sz="9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52080" y="3429000"/>
            <a:ext cx="4064000" cy="5308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1425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</a:t>
            </a:r>
            <a:r>
              <a:rPr lang="zh-CN" sz="1425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</a:t>
            </a:r>
            <a:r>
              <a:rPr sz="1425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使用HLS设计，pipeline、dataflow设计可以有HLS自行完成，相对简单</a:t>
            </a:r>
            <a:endParaRPr sz="1425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kicker-17"/>
          <p:cNvSpPr>
            <a:spLocks noGrp="1"/>
          </p:cNvSpPr>
          <p:nvPr/>
        </p:nvSpPr>
        <p:spPr>
          <a:xfrm>
            <a:off x="400050" y="247650"/>
            <a:ext cx="514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方向二 · 阶段级协作</a:t>
            </a:r>
            <a:endParaRPr sz="10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-17"/>
          <p:cNvSpPr>
            <a:spLocks noGrp="1"/>
          </p:cNvSpPr>
          <p:nvPr/>
        </p:nvSpPr>
        <p:spPr>
          <a:xfrm>
            <a:off x="400050" y="60960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阶段级协作：利用 LLM 推理的自然阶段边界</a:t>
            </a:r>
            <a:endParaRPr sz="30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rule-17"/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footer-17"/>
          <p:cNvSpPr>
            <a:spLocks noGrp="1"/>
          </p:cNvSpPr>
          <p:nvPr/>
        </p:nvSpPr>
        <p:spPr>
          <a:xfrm>
            <a:off x="1122045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9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tage-lead"/>
          <p:cNvSpPr>
            <a:spLocks noGrp="1"/>
          </p:cNvSpPr>
          <p:nvPr/>
        </p:nvSpPr>
        <p:spPr>
          <a:xfrm>
            <a:off x="400050" y="1619250"/>
            <a:ext cx="1057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阶段级协作减少细粒度往返，但跨设备需要携带更大的 KV / token tree / 模型状态。</a:t>
            </a:r>
            <a:endParaRPr sz="165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dfvg-box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00050" y="2343150"/>
            <a:ext cx="5334000" cy="2628900"/>
          </a:xfrm>
          <a:prstGeom prst="roundRect">
            <a:avLst>
              <a:gd name="adj" fmla="val 4348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7" name="dfvg-box-title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66750" y="2590800"/>
            <a:ext cx="438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DFVG · speculative decoding</a:t>
            </a:r>
            <a:endParaRPr sz="2025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dfvg-box-flow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66750" y="3219450"/>
            <a:ext cx="506793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FPGA：draft token tree   </a:t>
            </a:r>
            <a:endParaRPr sz="1575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7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  GPU：TreeSort + verify</a:t>
            </a:r>
            <a:endParaRPr sz="1575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dfvg-box-body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66750" y="3905250"/>
            <a:ext cx="4667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分工依据：小模型生成更偏内存受限；大模型验证可把多个候选组织成并行矩阵计算。</a:t>
            </a:r>
            <a:endParaRPr sz="135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gl-box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191250" y="2343150"/>
            <a:ext cx="5600700" cy="2628900"/>
          </a:xfrm>
          <a:prstGeom prst="roundRect">
            <a:avLst>
              <a:gd name="adj" fmla="val 4348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11" name="gl-box-title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457950" y="25908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GLITCHES · prefill / decode</a:t>
            </a:r>
            <a:endParaRPr sz="2025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gl-box-flow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457950" y="3219450"/>
            <a:ext cx="485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GPU：prefill   </a:t>
            </a:r>
            <a:endParaRPr sz="1575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7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  FPGA：autoregressive decode</a:t>
            </a:r>
            <a:endParaRPr sz="1575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gl-box-body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457950" y="3905250"/>
            <a:ext cx="485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分工依据：prefill 计算密集、GPU 擅长；decode 单 token 带宽受限、FPGA 低比特流式执行更合适。</a:t>
            </a:r>
            <a:endParaRPr sz="135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tage-key"/>
          <p:cNvSpPr>
            <a:spLocks noGrp="1"/>
          </p:cNvSpPr>
          <p:nvPr/>
        </p:nvSpPr>
        <p:spPr>
          <a:xfrm>
            <a:off x="400050" y="5448300"/>
            <a:ext cx="11391900" cy="552450"/>
          </a:xfrm>
          <a:prstGeom prst="roundRect">
            <a:avLst>
              <a:gd name="adj" fmla="val 20690"/>
            </a:avLst>
          </a:prstGeom>
          <a:solidFill>
            <a:srgbClr val="F6E2CE"/>
          </a:solidFill>
          <a:ln w="0">
            <a:noFill/>
            <a:prstDash val="solid"/>
          </a:ln>
        </p:spPr>
      </p:sp>
      <p:sp>
        <p:nvSpPr>
          <p:cNvPr id="15" name="stage-key-text"/>
          <p:cNvSpPr>
            <a:spLocks noGrp="1"/>
          </p:cNvSpPr>
          <p:nvPr/>
        </p:nvSpPr>
        <p:spPr>
          <a:xfrm>
            <a:off x="590550" y="5600700"/>
            <a:ext cx="1095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共同难点：两阶段速度必须匹配；否则更快的设备会等待，理论加速被 pipeline bubble 与状态传输抵消。</a:t>
            </a:r>
            <a:endParaRPr sz="1425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kicker-18"/>
          <p:cNvSpPr>
            <a:spLocks noGrp="1"/>
          </p:cNvSpPr>
          <p:nvPr/>
        </p:nvSpPr>
        <p:spPr>
          <a:xfrm>
            <a:off x="400050" y="247650"/>
            <a:ext cx="514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方向二 · 阶段级协作</a:t>
            </a:r>
            <a:endParaRPr sz="10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-18"/>
          <p:cNvSpPr>
            <a:spLocks noGrp="1"/>
          </p:cNvSpPr>
          <p:nvPr/>
        </p:nvSpPr>
        <p:spPr>
          <a:xfrm>
            <a:off x="400050" y="60960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阶段级①：DFVG = FPGA Draft + GPU Verify</a:t>
            </a:r>
            <a:endParaRPr sz="30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rule-18"/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footer-18"/>
          <p:cNvSpPr>
            <a:spLocks noGrp="1"/>
          </p:cNvSpPr>
          <p:nvPr/>
        </p:nvSpPr>
        <p:spPr>
          <a:xfrm>
            <a:off x="1122045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9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dfvg-img-bg"/>
          <p:cNvSpPr>
            <a:spLocks noGrp="1"/>
          </p:cNvSpPr>
          <p:nvPr/>
        </p:nvSpPr>
        <p:spPr>
          <a:xfrm>
            <a:off x="400050" y="1657350"/>
            <a:ext cx="6667500" cy="4044315"/>
          </a:xfrm>
          <a:prstGeom prst="roundRect">
            <a:avLst>
              <a:gd name="adj" fmla="val 3371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" y="1742918"/>
            <a:ext cx="6362700" cy="2365054"/>
          </a:xfrm>
          <a:prstGeom prst="rect">
            <a:avLst/>
          </a:prstGeom>
        </p:spPr>
      </p:pic>
      <p:sp>
        <p:nvSpPr>
          <p:cNvPr id="7" name="dfvg-a-bar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524750" y="1743075"/>
            <a:ext cx="47625" cy="6096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dfvg-a-title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715250" y="1695450"/>
            <a:ext cx="3810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 token tree</a:t>
            </a:r>
            <a:endParaRPr sz="16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dfvg-a-body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715250" y="2028825"/>
            <a:ext cx="3810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FPGA 上的小 drafter 并行扩展多分支，提高一次 GPU 验证可接受的 token 数。</a:t>
            </a:r>
            <a:endParaRPr sz="12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dfvg-b-bar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7524750" y="2943225"/>
            <a:ext cx="47625" cy="60960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11" name="dfvg-b-title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7715250" y="2895600"/>
            <a:ext cx="3810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TreeSort–Verify</a:t>
            </a:r>
            <a:endParaRPr sz="16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dfvg-b-body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7715250" y="3228975"/>
            <a:ext cx="3810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 对候选树重排，将 target model 验证转化为高效并行计算。</a:t>
            </a:r>
            <a:endParaRPr sz="12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dfvg-c-bar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524750" y="4143375"/>
            <a:ext cx="47625" cy="60960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14" name="dfvg-c-title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7715250" y="4095750"/>
            <a:ext cx="3810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流水重叠</a:t>
            </a:r>
            <a:endParaRPr sz="16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dfvg-c-body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7715250" y="4429125"/>
            <a:ext cx="3810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 验证当前树</a:t>
            </a:r>
            <a:r>
              <a:rPr lang="zh-CN"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时，</a:t>
            </a:r>
            <a:r>
              <a:rPr lang="en-US" altLang="zh-CN"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FPGA</a:t>
            </a:r>
            <a:r>
              <a:rPr lang="zh-CN" altLang="en-US"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继续超前生成下一批候选</a:t>
            </a: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en-US"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FPGA</a:t>
            </a:r>
            <a:r>
              <a:rPr lang="zh-CN" altLang="en-US"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上需要实现</a:t>
            </a: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回滚、剪枝与分支 KV 管理。</a:t>
            </a:r>
            <a:endParaRPr sz="12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dfvg-tag"/>
          <p:cNvSpPr>
            <a:spLocks noGrp="1"/>
          </p:cNvSpPr>
          <p:nvPr/>
        </p:nvSpPr>
        <p:spPr>
          <a:xfrm>
            <a:off x="400050" y="6019800"/>
            <a:ext cx="10858500" cy="323850"/>
          </a:xfrm>
          <a:prstGeom prst="roundRect">
            <a:avLst>
              <a:gd name="adj" fmla="val 35294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19" name="dfvg-tag-text"/>
          <p:cNvSpPr>
            <a:spLocks noGrp="1"/>
          </p:cNvSpPr>
          <p:nvPr/>
        </p:nvSpPr>
        <p:spPr>
          <a:xfrm>
            <a:off x="533400" y="6086475"/>
            <a:ext cx="10591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论文：DFVG: A Heterogeneous Architecture for Speculative Decoding with Draft-on-FPGA and Verify-on-GPU</a:t>
            </a:r>
            <a:endParaRPr sz="9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43660" y="4095750"/>
            <a:ext cx="4636135" cy="15163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kicker-19"/>
          <p:cNvSpPr>
            <a:spLocks noGrp="1"/>
          </p:cNvSpPr>
          <p:nvPr/>
        </p:nvSpPr>
        <p:spPr>
          <a:xfrm>
            <a:off x="400050" y="247650"/>
            <a:ext cx="514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方向二 · 阶段级协作</a:t>
            </a:r>
            <a:endParaRPr sz="10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-19"/>
          <p:cNvSpPr>
            <a:spLocks noGrp="1"/>
          </p:cNvSpPr>
          <p:nvPr/>
        </p:nvSpPr>
        <p:spPr>
          <a:xfrm>
            <a:off x="400050" y="60960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DFVG：硬件优化</a:t>
            </a:r>
            <a:endParaRPr sz="30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rule-19"/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footer-19"/>
          <p:cNvSpPr>
            <a:spLocks noGrp="1"/>
          </p:cNvSpPr>
          <p:nvPr/>
        </p:nvSpPr>
        <p:spPr>
          <a:xfrm>
            <a:off x="1122045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9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dfvg-pe-bg"/>
          <p:cNvSpPr>
            <a:spLocks noGrp="1"/>
          </p:cNvSpPr>
          <p:nvPr/>
        </p:nvSpPr>
        <p:spPr>
          <a:xfrm>
            <a:off x="400050" y="2066925"/>
            <a:ext cx="5810250" cy="3124200"/>
          </a:xfrm>
          <a:prstGeom prst="roundRect">
            <a:avLst>
              <a:gd name="adj" fmla="val 3659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50" y="2372403"/>
            <a:ext cx="5429250" cy="2513243"/>
          </a:xfrm>
          <a:prstGeom prst="rect">
            <a:avLst/>
          </a:prstGeom>
        </p:spPr>
      </p:pic>
      <p:sp>
        <p:nvSpPr>
          <p:cNvPr id="7" name="dfvgh-a-bar"/>
          <p:cNvSpPr>
            <a:spLocks noGrp="1"/>
          </p:cNvSpPr>
          <p:nvPr/>
        </p:nvSpPr>
        <p:spPr>
          <a:xfrm>
            <a:off x="6667500" y="2190750"/>
            <a:ext cx="47625" cy="6096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dfvgh-a-title"/>
          <p:cNvSpPr>
            <a:spLocks noGrp="1"/>
          </p:cNvSpPr>
          <p:nvPr/>
        </p:nvSpPr>
        <p:spPr>
          <a:xfrm>
            <a:off x="6858000" y="2143125"/>
            <a:ext cx="4476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Multi Compute Core Overlay</a:t>
            </a:r>
            <a:endParaRPr sz="16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dfvgh-a-body"/>
          <p:cNvSpPr>
            <a:spLocks noGrp="1"/>
          </p:cNvSpPr>
          <p:nvPr/>
        </p:nvSpPr>
        <p:spPr>
          <a:xfrm>
            <a:off x="6858000" y="2476500"/>
            <a:ext cx="447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同一套 overlay 支持 draft 模型不同算子，减少重配置与碎片化。</a:t>
            </a:r>
            <a:endParaRPr sz="12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dfvgh-b-bar"/>
          <p:cNvSpPr>
            <a:spLocks noGrp="1"/>
          </p:cNvSpPr>
          <p:nvPr/>
        </p:nvSpPr>
        <p:spPr>
          <a:xfrm>
            <a:off x="6667500" y="3276600"/>
            <a:ext cx="47625" cy="60960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11" name="dfvgh-b-title"/>
          <p:cNvSpPr>
            <a:spLocks noGrp="1"/>
          </p:cNvSpPr>
          <p:nvPr/>
        </p:nvSpPr>
        <p:spPr>
          <a:xfrm>
            <a:off x="6858000" y="3228975"/>
            <a:ext cx="4476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共享权重的双 BF16 乘法</a:t>
            </a:r>
            <a:endParaRPr sz="16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dfvgh-b-body"/>
          <p:cNvSpPr>
            <a:spLocks noGrp="1"/>
          </p:cNvSpPr>
          <p:nvPr/>
        </p:nvSpPr>
        <p:spPr>
          <a:xfrm>
            <a:off x="6858000" y="3562350"/>
            <a:ext cx="447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多分支共享同一权重，利用 DSP 打包同时计算两个 BF16 乘法。</a:t>
            </a:r>
            <a:endParaRPr sz="12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dfvgh-c-bar"/>
          <p:cNvSpPr>
            <a:spLocks noGrp="1"/>
          </p:cNvSpPr>
          <p:nvPr/>
        </p:nvSpPr>
        <p:spPr>
          <a:xfrm>
            <a:off x="6667500" y="4362450"/>
            <a:ext cx="47625" cy="60960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14" name="dfvgh-c-title"/>
          <p:cNvSpPr>
            <a:spLocks noGrp="1"/>
          </p:cNvSpPr>
          <p:nvPr/>
        </p:nvSpPr>
        <p:spPr>
          <a:xfrm>
            <a:off x="6858000" y="4314825"/>
            <a:ext cx="4476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 GEMV 转向小 GEMM</a:t>
            </a:r>
            <a:endParaRPr sz="16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dfvgh-c-body"/>
          <p:cNvSpPr>
            <a:spLocks noGrp="1"/>
          </p:cNvSpPr>
          <p:nvPr/>
        </p:nvSpPr>
        <p:spPr>
          <a:xfrm>
            <a:off x="6858000" y="4648200"/>
            <a:ext cx="447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由于</a:t>
            </a:r>
            <a:r>
              <a:rPr lang="en-US"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 tree同时推进多个分支，</a:t>
            </a:r>
            <a:r>
              <a:rPr lang="zh-CN"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可以同时</a:t>
            </a:r>
            <a:r>
              <a:rPr lang="en-US" altLang="zh-CN"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decode</a:t>
            </a:r>
            <a:r>
              <a:rPr lang="zh-CN" altLang="en-US"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多个不同的</a:t>
            </a:r>
            <a:r>
              <a:rPr lang="en-US" altLang="zh-CN"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</a:t>
            </a:r>
            <a:r>
              <a:rPr lang="zh-CN" altLang="en-US"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让FPGA的矩阵阵列获得更高利用率。</a:t>
            </a:r>
            <a:endParaRPr sz="12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dfvgh-tag"/>
          <p:cNvSpPr>
            <a:spLocks noGrp="1"/>
          </p:cNvSpPr>
          <p:nvPr/>
        </p:nvSpPr>
        <p:spPr>
          <a:xfrm>
            <a:off x="400050" y="6286500"/>
            <a:ext cx="10858500" cy="323850"/>
          </a:xfrm>
          <a:prstGeom prst="roundRect">
            <a:avLst>
              <a:gd name="adj" fmla="val 35294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29" name="dfvgh-tag-text"/>
          <p:cNvSpPr>
            <a:spLocks noGrp="1"/>
          </p:cNvSpPr>
          <p:nvPr/>
        </p:nvSpPr>
        <p:spPr>
          <a:xfrm>
            <a:off x="533400" y="6353175"/>
            <a:ext cx="10591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论文：DFVG: A Heterogeneous Architecture for Speculative Decoding with Draft-on-FPGA and Verify-on-GPU</a:t>
            </a:r>
            <a:endParaRPr sz="9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kicker-20"/>
          <p:cNvSpPr>
            <a:spLocks noGrp="1"/>
          </p:cNvSpPr>
          <p:nvPr/>
        </p:nvSpPr>
        <p:spPr>
          <a:xfrm>
            <a:off x="400050" y="247650"/>
            <a:ext cx="514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方向二 · 阶段级协作</a:t>
            </a:r>
            <a:endParaRPr sz="10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-20"/>
          <p:cNvSpPr>
            <a:spLocks noGrp="1"/>
          </p:cNvSpPr>
          <p:nvPr/>
        </p:nvSpPr>
        <p:spPr>
          <a:xfrm>
            <a:off x="400050" y="60960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阶段级②：GLITCHES = GPU Prefill + FPGA Decode</a:t>
            </a:r>
            <a:endParaRPr sz="30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rule-20"/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footer-20"/>
          <p:cNvSpPr>
            <a:spLocks noGrp="1"/>
          </p:cNvSpPr>
          <p:nvPr/>
        </p:nvSpPr>
        <p:spPr>
          <a:xfrm>
            <a:off x="1122045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sz="9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gl-img-bg"/>
          <p:cNvSpPr>
            <a:spLocks noGrp="1"/>
          </p:cNvSpPr>
          <p:nvPr/>
        </p:nvSpPr>
        <p:spPr>
          <a:xfrm>
            <a:off x="400050" y="1657350"/>
            <a:ext cx="6858000" cy="320040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6" name="gl-diagram-label"/>
          <p:cNvSpPr>
            <a:spLocks noGrp="1"/>
          </p:cNvSpPr>
          <p:nvPr/>
        </p:nvSpPr>
        <p:spPr>
          <a:xfrm>
            <a:off x="666750" y="19240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阶段级数据流</a:t>
            </a:r>
            <a:endParaRPr sz="1275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gl-gpu"/>
          <p:cNvSpPr>
            <a:spLocks noGrp="1"/>
          </p:cNvSpPr>
          <p:nvPr/>
        </p:nvSpPr>
        <p:spPr>
          <a:xfrm>
            <a:off x="685800" y="2590800"/>
            <a:ext cx="16764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8" name="gl-gpu-title"/>
          <p:cNvSpPr>
            <a:spLocks noGrp="1"/>
          </p:cNvSpPr>
          <p:nvPr/>
        </p:nvSpPr>
        <p:spPr>
          <a:xfrm>
            <a:off x="857250" y="27813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1× A100</a:t>
            </a:r>
            <a:endParaRPr sz="1875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gl-gpu-body"/>
          <p:cNvSpPr>
            <a:spLocks noGrp="1"/>
          </p:cNvSpPr>
          <p:nvPr/>
        </p:nvSpPr>
        <p:spPr>
          <a:xfrm>
            <a:off x="857250" y="3219450"/>
            <a:ext cx="133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Prefill</a:t>
            </a:r>
            <a:endParaRPr sz="12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FP16</a:t>
            </a:r>
            <a:endParaRPr sz="12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gl-transfer-arrow"/>
          <p:cNvSpPr>
            <a:spLocks noGrp="1"/>
          </p:cNvSpPr>
          <p:nvPr/>
        </p:nvSpPr>
        <p:spPr>
          <a:xfrm>
            <a:off x="2533650" y="2876550"/>
            <a:ext cx="514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5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5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gl-transfer"/>
          <p:cNvSpPr>
            <a:spLocks noGrp="1"/>
          </p:cNvSpPr>
          <p:nvPr/>
        </p:nvSpPr>
        <p:spPr>
          <a:xfrm>
            <a:off x="3028950" y="2457450"/>
            <a:ext cx="1466850" cy="1390650"/>
          </a:xfrm>
          <a:prstGeom prst="roundRect">
            <a:avLst>
              <a:gd name="adj" fmla="val 8219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12" name="gl-transfer-title"/>
          <p:cNvSpPr>
            <a:spLocks noGrp="1"/>
          </p:cNvSpPr>
          <p:nvPr/>
        </p:nvSpPr>
        <p:spPr>
          <a:xfrm>
            <a:off x="3181350" y="2686050"/>
            <a:ext cx="1162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状态迁移</a:t>
            </a:r>
            <a:endParaRPr sz="1575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gl-transfer-body"/>
          <p:cNvSpPr>
            <a:spLocks noGrp="1"/>
          </p:cNvSpPr>
          <p:nvPr/>
        </p:nvSpPr>
        <p:spPr>
          <a:xfrm>
            <a:off x="3181350" y="3124200"/>
            <a:ext cx="11620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cache</a:t>
            </a:r>
            <a:endParaRPr sz="12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请求状态</a:t>
            </a:r>
            <a:endParaRPr sz="12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 FPGA</a:t>
            </a:r>
            <a:endParaRPr sz="12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gl-shard-arrow"/>
          <p:cNvSpPr>
            <a:spLocks noGrp="1"/>
          </p:cNvSpPr>
          <p:nvPr/>
        </p:nvSpPr>
        <p:spPr>
          <a:xfrm>
            <a:off x="4572000" y="2876550"/>
            <a:ext cx="514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5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5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gl-fpga"/>
          <p:cNvSpPr>
            <a:spLocks noGrp="1"/>
          </p:cNvSpPr>
          <p:nvPr/>
        </p:nvSpPr>
        <p:spPr>
          <a:xfrm>
            <a:off x="5067300" y="2305050"/>
            <a:ext cx="1866900" cy="169545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6" name="gl-fpga-title"/>
          <p:cNvSpPr>
            <a:spLocks noGrp="1"/>
          </p:cNvSpPr>
          <p:nvPr/>
        </p:nvSpPr>
        <p:spPr>
          <a:xfrm>
            <a:off x="5257800" y="2533650"/>
            <a:ext cx="1485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7× U280</a:t>
            </a:r>
            <a:endParaRPr sz="1875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gl-fpga-body"/>
          <p:cNvSpPr>
            <a:spLocks noGrp="1"/>
          </p:cNvSpPr>
          <p:nvPr/>
        </p:nvSpPr>
        <p:spPr>
          <a:xfrm>
            <a:off x="5257800" y="3048000"/>
            <a:ext cx="14859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并行 Decode</a:t>
            </a:r>
            <a:endParaRPr sz="12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 W4A8</a:t>
            </a:r>
            <a:endParaRPr sz="12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独立请求队列</a:t>
            </a:r>
            <a:endParaRPr sz="12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gl-schedule"/>
          <p:cNvSpPr>
            <a:spLocks noGrp="1"/>
          </p:cNvSpPr>
          <p:nvPr/>
        </p:nvSpPr>
        <p:spPr>
          <a:xfrm>
            <a:off x="1143000" y="4267200"/>
            <a:ext cx="533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调度目标：让 7 个 decode 队列持续有请求</a:t>
            </a:r>
            <a:endParaRPr sz="13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gl-a-bar"/>
          <p:cNvSpPr>
            <a:spLocks noGrp="1"/>
          </p:cNvSpPr>
          <p:nvPr/>
        </p:nvSpPr>
        <p:spPr>
          <a:xfrm>
            <a:off x="7696200" y="1762125"/>
            <a:ext cx="47625" cy="6096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0" name="gl-a-title"/>
          <p:cNvSpPr>
            <a:spLocks noGrp="1"/>
          </p:cNvSpPr>
          <p:nvPr/>
        </p:nvSpPr>
        <p:spPr>
          <a:xfrm>
            <a:off x="7886700" y="1714500"/>
            <a:ext cx="36576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为什么这样分？</a:t>
            </a:r>
            <a:endParaRPr sz="16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gl-a-body"/>
          <p:cNvSpPr>
            <a:spLocks noGrp="1"/>
          </p:cNvSpPr>
          <p:nvPr/>
        </p:nvSpPr>
        <p:spPr>
          <a:xfrm>
            <a:off x="7886700" y="2047875"/>
            <a:ext cx="3657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U280 做 1536-token prefill 约 5s、比 A100 慢 28.44×；而 A100 decode 计算利用率仅约 0.19%。</a:t>
            </a:r>
            <a:endParaRPr sz="12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gl-b-bar"/>
          <p:cNvSpPr>
            <a:spLocks noGrp="1"/>
          </p:cNvSpPr>
          <p:nvPr/>
        </p:nvSpPr>
        <p:spPr>
          <a:xfrm>
            <a:off x="7696200" y="3057525"/>
            <a:ext cx="47625" cy="60960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23" name="gl-b-title"/>
          <p:cNvSpPr>
            <a:spLocks noGrp="1"/>
          </p:cNvSpPr>
          <p:nvPr/>
        </p:nvSpPr>
        <p:spPr>
          <a:xfrm>
            <a:off x="7886700" y="3009900"/>
            <a:ext cx="36576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集群构成</a:t>
            </a:r>
            <a:endParaRPr sz="16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gl-b-body"/>
          <p:cNvSpPr>
            <a:spLocks noGrp="1"/>
          </p:cNvSpPr>
          <p:nvPr/>
        </p:nvSpPr>
        <p:spPr>
          <a:xfrm>
            <a:off x="7886700" y="3343275"/>
            <a:ext cx="3657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1×A100 负责请求 prefill，7×U280 并行承担后续 decode。</a:t>
            </a:r>
            <a:endParaRPr sz="12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gl-c-bar"/>
          <p:cNvSpPr>
            <a:spLocks noGrp="1"/>
          </p:cNvSpPr>
          <p:nvPr/>
        </p:nvSpPr>
        <p:spPr>
          <a:xfrm>
            <a:off x="7696200" y="4219575"/>
            <a:ext cx="47625" cy="60960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26" name="gl-c-title"/>
          <p:cNvSpPr>
            <a:spLocks noGrp="1"/>
          </p:cNvSpPr>
          <p:nvPr/>
        </p:nvSpPr>
        <p:spPr>
          <a:xfrm>
            <a:off x="7886700" y="4171950"/>
            <a:ext cx="36576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执行精度</a:t>
            </a:r>
            <a:endParaRPr sz="16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gl-c-body"/>
          <p:cNvSpPr>
            <a:spLocks noGrp="1"/>
          </p:cNvSpPr>
          <p:nvPr/>
        </p:nvSpPr>
        <p:spPr>
          <a:xfrm>
            <a:off x="7886700" y="4505325"/>
            <a:ext cx="3657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LLaMA2-7B；GPU 使用 FP16，FPGA 采用接近 W4A8 的低比特数据路径。</a:t>
            </a:r>
            <a:endParaRPr sz="12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gl-bound"/>
          <p:cNvSpPr>
            <a:spLocks noGrp="1"/>
          </p:cNvSpPr>
          <p:nvPr/>
        </p:nvSpPr>
        <p:spPr>
          <a:xfrm>
            <a:off x="400050" y="5162550"/>
            <a:ext cx="10953750" cy="666750"/>
          </a:xfrm>
          <a:prstGeom prst="roundRect">
            <a:avLst>
              <a:gd name="adj" fmla="val 17143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29" name="gl-bound-text"/>
          <p:cNvSpPr>
            <a:spLocks noGrp="1"/>
          </p:cNvSpPr>
          <p:nvPr/>
        </p:nvSpPr>
        <p:spPr>
          <a:xfrm>
            <a:off x="590550" y="5353050"/>
            <a:ext cx="1057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系统边界：prefill 后需要把 KV cache / 请求状态交给目标 FPGA；调度器还要避免各 FPGA decode 队列失衡。</a:t>
            </a:r>
            <a:endParaRPr sz="13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gl-tag"/>
          <p:cNvSpPr>
            <a:spLocks noGrp="1"/>
          </p:cNvSpPr>
          <p:nvPr/>
        </p:nvSpPr>
        <p:spPr>
          <a:xfrm>
            <a:off x="400050" y="6000750"/>
            <a:ext cx="10572750" cy="323850"/>
          </a:xfrm>
          <a:prstGeom prst="roundRect">
            <a:avLst>
              <a:gd name="adj" fmla="val 35294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31" name="gl-tag-text"/>
          <p:cNvSpPr>
            <a:spLocks noGrp="1"/>
          </p:cNvSpPr>
          <p:nvPr/>
        </p:nvSpPr>
        <p:spPr>
          <a:xfrm>
            <a:off x="533400" y="6067425"/>
            <a:ext cx="10306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论文：GLITCHES: GPU-FPGA LLM Inference Through a Collaborative Heterogeneous System</a:t>
            </a:r>
            <a:endParaRPr sz="9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kicker-21"/>
          <p:cNvSpPr>
            <a:spLocks noGrp="1"/>
          </p:cNvSpPr>
          <p:nvPr/>
        </p:nvSpPr>
        <p:spPr>
          <a:xfrm>
            <a:off x="400050" y="247650"/>
            <a:ext cx="514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方向二 · 阶段级协作</a:t>
            </a:r>
            <a:endParaRPr sz="10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-21"/>
          <p:cNvSpPr>
            <a:spLocks noGrp="1"/>
          </p:cNvSpPr>
          <p:nvPr/>
        </p:nvSpPr>
        <p:spPr>
          <a:xfrm>
            <a:off x="400050" y="609600"/>
            <a:ext cx="1114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GLITCHES：吞吐来自阶段匹配，也来自低比特与预取</a:t>
            </a:r>
            <a:endParaRPr sz="300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rule-21"/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footer-21"/>
          <p:cNvSpPr>
            <a:spLocks noGrp="1"/>
          </p:cNvSpPr>
          <p:nvPr/>
        </p:nvSpPr>
        <p:spPr>
          <a:xfrm>
            <a:off x="1122045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endParaRPr sz="900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glp-img-bg"/>
          <p:cNvSpPr>
            <a:spLocks noGrp="1"/>
          </p:cNvSpPr>
          <p:nvPr/>
        </p:nvSpPr>
        <p:spPr>
          <a:xfrm>
            <a:off x="400050" y="2060575"/>
            <a:ext cx="5715000" cy="2609850"/>
          </a:xfrm>
          <a:prstGeom prst="roundRect">
            <a:avLst>
              <a:gd name="adj" fmla="val 4380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50" y="2417126"/>
            <a:ext cx="5334000" cy="1896747"/>
          </a:xfrm>
          <a:prstGeom prst="rect">
            <a:avLst/>
          </a:prstGeom>
        </p:spPr>
      </p:pic>
      <p:sp>
        <p:nvSpPr>
          <p:cNvPr id="7" name="glp-a-bar"/>
          <p:cNvSpPr>
            <a:spLocks noGrp="1"/>
          </p:cNvSpPr>
          <p:nvPr/>
        </p:nvSpPr>
        <p:spPr>
          <a:xfrm>
            <a:off x="6572250" y="1781175"/>
            <a:ext cx="47625" cy="6096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glp-a-title"/>
          <p:cNvSpPr>
            <a:spLocks noGrp="1"/>
          </p:cNvSpPr>
          <p:nvPr/>
        </p:nvSpPr>
        <p:spPr>
          <a:xfrm>
            <a:off x="6762750" y="2878455"/>
            <a:ext cx="4572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HBM 预取</a:t>
            </a:r>
            <a:endParaRPr sz="16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glp-a-body"/>
          <p:cNvSpPr>
            <a:spLocks noGrp="1"/>
          </p:cNvSpPr>
          <p:nvPr/>
        </p:nvSpPr>
        <p:spPr>
          <a:xfrm>
            <a:off x="6762750" y="3211830"/>
            <a:ext cx="457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M=4 时把 q_proj 权重访问粒度从 8KB 提到 32KB，</a:t>
            </a:r>
            <a:r>
              <a:rPr lang="zh-CN"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提高传输效率，</a:t>
            </a: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降低元数据与事务开销。</a:t>
            </a:r>
            <a:endParaRPr sz="12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glp-b-bar"/>
          <p:cNvSpPr>
            <a:spLocks noGrp="1"/>
          </p:cNvSpPr>
          <p:nvPr/>
        </p:nvSpPr>
        <p:spPr>
          <a:xfrm>
            <a:off x="6572250" y="2962275"/>
            <a:ext cx="47625" cy="60960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11" name="glp-b-title"/>
          <p:cNvSpPr>
            <a:spLocks noGrp="1"/>
          </p:cNvSpPr>
          <p:nvPr/>
        </p:nvSpPr>
        <p:spPr>
          <a:xfrm>
            <a:off x="6762750" y="4059555"/>
            <a:ext cx="4572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 token 延迟</a:t>
            </a:r>
            <a:endParaRPr sz="16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glp-b-body"/>
          <p:cNvSpPr>
            <a:spLocks noGrp="1"/>
          </p:cNvSpPr>
          <p:nvPr/>
        </p:nvSpPr>
        <p:spPr>
          <a:xfrm>
            <a:off x="6762750" y="4392930"/>
            <a:ext cx="457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A100 24.26ms、V100S 29.52ms、U280 21.50ms；U280 报告功耗 46W。</a:t>
            </a:r>
            <a:r>
              <a:rPr lang="zh-CN"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这里</a:t>
            </a:r>
            <a:r>
              <a:rPr lang="en-US" altLang="zh-CN"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FPGA</a:t>
            </a:r>
            <a:r>
              <a:rPr lang="zh-CN" altLang="en-US"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的领先很大程度是因为使用了低</a:t>
            </a:r>
            <a:r>
              <a:rPr lang="en-US" altLang="zh-CN"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bit</a:t>
            </a:r>
            <a:r>
              <a:rPr lang="zh-CN" altLang="en-US"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2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glp-c-bar"/>
          <p:cNvSpPr>
            <a:spLocks noGrp="1"/>
          </p:cNvSpPr>
          <p:nvPr/>
        </p:nvSpPr>
        <p:spPr>
          <a:xfrm>
            <a:off x="6572250" y="4143375"/>
            <a:ext cx="47625" cy="60960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14" name="glp-c-title"/>
          <p:cNvSpPr>
            <a:spLocks noGrp="1"/>
          </p:cNvSpPr>
          <p:nvPr/>
        </p:nvSpPr>
        <p:spPr>
          <a:xfrm>
            <a:off x="6763385" y="1686560"/>
            <a:ext cx="4572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加速器</a:t>
            </a:r>
            <a:r>
              <a:rPr lang="zh-CN" sz="16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</a:t>
            </a:r>
            <a:endParaRPr lang="zh-CN" sz="16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glp-c-body"/>
          <p:cNvSpPr>
            <a:spLocks noGrp="1"/>
          </p:cNvSpPr>
          <p:nvPr/>
        </p:nvSpPr>
        <p:spPr>
          <a:xfrm>
            <a:off x="6763385" y="2019935"/>
            <a:ext cx="457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这里的加速器架构直接采用了</a:t>
            </a:r>
            <a:r>
              <a:rPr lang="en-US" altLang="zh-CN"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FlightLLM</a:t>
            </a:r>
            <a:r>
              <a:rPr lang="zh-CN" altLang="en-US" sz="12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，并没有自行设计，从目前来看实验使用的大模型和加速器架构都有点过时。</a:t>
            </a:r>
            <a:r>
              <a:rPr lang="en-US" altLang="zh-CN">
                <a:sym typeface="+mn-ea"/>
              </a:rPr>
              <a:t>FlightLLM</a:t>
            </a:r>
            <a:r>
              <a:rPr lang="zh-CN" altLang="en-US">
                <a:sym typeface="+mn-ea"/>
              </a:rPr>
              <a:t>似乎都没有开源，不知道这篇论文</a:t>
            </a:r>
            <a:r>
              <a:rPr lang="zh-CN" altLang="en-US">
                <a:sym typeface="+mn-ea"/>
              </a:rPr>
              <a:t>是怎么复现的。</a:t>
            </a:r>
            <a:endParaRPr lang="zh-CN" altLang="en-US">
              <a:sym typeface="+mn-ea"/>
            </a:endParaRPr>
          </a:p>
        </p:txBody>
      </p:sp>
      <p:sp>
        <p:nvSpPr>
          <p:cNvPr id="22" name="glp-caveat"/>
          <p:cNvSpPr>
            <a:spLocks noGrp="1"/>
          </p:cNvSpPr>
          <p:nvPr/>
        </p:nvSpPr>
        <p:spPr>
          <a:xfrm>
            <a:off x="400050" y="5219700"/>
            <a:ext cx="10934700" cy="704850"/>
          </a:xfrm>
          <a:prstGeom prst="roundRect">
            <a:avLst>
              <a:gd name="adj" fmla="val 16216"/>
            </a:avLst>
          </a:prstGeom>
          <a:solidFill>
            <a:srgbClr val="F6E2CE"/>
          </a:solidFill>
          <a:ln w="0">
            <a:noFill/>
            <a:prstDash val="solid"/>
          </a:ln>
        </p:spPr>
      </p:sp>
      <p:sp>
        <p:nvSpPr>
          <p:cNvPr id="24" name="glp-tag"/>
          <p:cNvSpPr>
            <a:spLocks noGrp="1"/>
          </p:cNvSpPr>
          <p:nvPr/>
        </p:nvSpPr>
        <p:spPr>
          <a:xfrm>
            <a:off x="400050" y="6115050"/>
            <a:ext cx="10935335" cy="323850"/>
          </a:xfrm>
          <a:prstGeom prst="roundRect">
            <a:avLst>
              <a:gd name="adj" fmla="val 35294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25" name="glp-tag-text"/>
          <p:cNvSpPr>
            <a:spLocks noGrp="1"/>
          </p:cNvSpPr>
          <p:nvPr/>
        </p:nvSpPr>
        <p:spPr>
          <a:xfrm>
            <a:off x="533400" y="6181725"/>
            <a:ext cx="10306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258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论文：GLITCHES: GPU-FPGA LLM Inference Through a Collaborative Heterogeneous System</a:t>
            </a:r>
            <a:endParaRPr sz="975" b="0">
              <a:solidFill>
                <a:srgbClr val="5258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00685" y="5235575"/>
            <a:ext cx="10911205" cy="714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我个人认为阶段级的协作是最难实现的，因为一般来说将大模型的一个阶段放到FPGA和单FPGA实现推理的难度差不多，并且还需要考虑与GPU的协作和通信。</a:t>
            </a:r>
            <a:r>
              <a:rPr lang="zh-CN" altLang="en-US"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目前来看我认为</a:t>
            </a:r>
            <a:r>
              <a:rPr lang="en-US" altLang="zh-CN"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把多模态的encoder下载到FPGA上是比较可行的，FPGA对于流式\稀疏数据处理能力强</a:t>
            </a:r>
            <a:r>
              <a:rPr lang="zh-CN" altLang="en-US"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，通信开销也较为</a:t>
            </a:r>
            <a:r>
              <a:rPr lang="zh-CN" altLang="en-US" sz="1350" b="1">
                <a:solidFill>
                  <a:srgbClr val="0A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可控。</a:t>
            </a:r>
            <a:endParaRPr lang="zh-CN" altLang="en-US" sz="1350" b="1">
              <a:solidFill>
                <a:srgbClr val="0A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8.5,&quot;left&quot;:31.5,&quot;top&quot;:145.25,&quot;width&quot;:879}"/>
</p:tagLst>
</file>

<file path=ppt/tags/tag2.xml><?xml version="1.0" encoding="utf-8"?>
<p:tagLst xmlns:p="http://schemas.openxmlformats.org/presentationml/2006/main">
  <p:tag name="KSO_WM_DIAGRAM_VIRTUALLY_FRAME" val="{&quot;height&quot;:238.5,&quot;left&quot;:31.5,&quot;top&quot;:145.25,&quot;width&quot;:879}"/>
</p:tagLst>
</file>

<file path=ppt/tags/tag3.xml><?xml version="1.0" encoding="utf-8"?>
<p:tagLst xmlns:p="http://schemas.openxmlformats.org/presentationml/2006/main">
  <p:tag name="KSO_WM_DIAGRAM_VIRTUALLY_FRAME" val="{&quot;height&quot;:238.5,&quot;left&quot;:31.5,&quot;top&quot;:145.25,&quot;width&quot;:879}"/>
</p:tagLst>
</file>

<file path=ppt/tags/tag4.xml><?xml version="1.0" encoding="utf-8"?>
<p:tagLst xmlns:p="http://schemas.openxmlformats.org/presentationml/2006/main">
  <p:tag name="KSO_WM_DIAGRAM_VIRTUALLY_FRAME" val="{&quot;height&quot;:238.5,&quot;left&quot;:31.5,&quot;top&quot;:145.25,&quot;width&quot;:879}"/>
</p:tagLst>
</file>

<file path=ppt/tags/tag5.xml><?xml version="1.0" encoding="utf-8"?>
<p:tagLst xmlns:p="http://schemas.openxmlformats.org/presentationml/2006/main">
  <p:tag name="KSO_WM_DIAGRAM_VIRTUALLY_FRAME" val="{&quot;height&quot;:238.5,&quot;left&quot;:31.5,&quot;top&quot;:145.25,&quot;width&quot;:879}"/>
</p:tagLst>
</file>

<file path=ppt/tags/tag6.xml><?xml version="1.0" encoding="utf-8"?>
<p:tagLst xmlns:p="http://schemas.openxmlformats.org/presentationml/2006/main">
  <p:tag name="KSO_WM_DIAGRAM_VIRTUALLY_FRAME" val="{&quot;height&quot;:238.5,&quot;left&quot;:31.5,&quot;top&quot;:145.25,&quot;width&quot;:879}"/>
</p:tagLst>
</file>

<file path=ppt/tags/tag7.xml><?xml version="1.0" encoding="utf-8"?>
<p:tagLst xmlns:p="http://schemas.openxmlformats.org/presentationml/2006/main">
  <p:tag name="KSO_WM_DIAGRAM_VIRTUALLY_FRAME" val="{&quot;height&quot;:238.5,&quot;left&quot;:31.5,&quot;top&quot;:145.25,&quot;width&quot;:879}"/>
</p:tagLst>
</file>

<file path=ppt/tags/tag8.xml><?xml version="1.0" encoding="utf-8"?>
<p:tagLst xmlns:p="http://schemas.openxmlformats.org/presentationml/2006/main">
  <p:tag name="KSO_WM_DIAGRAM_VIRTUALLY_FRAME" val="{&quot;height&quot;:238.5,&quot;left&quot;:31.5,&quot;top&quot;:145.25,&quot;width&quot;:879}"/>
</p:tagLst>
</file>

<file path=ppt/tags/tag9.xml><?xml version="1.0" encoding="utf-8"?>
<p:tagLst xmlns:p="http://schemas.openxmlformats.org/presentationml/2006/main">
  <p:tag name="KSO_WM_DIAGRAM_VIRTUALLY_FRAME" val="{&quot;height&quot;:238.5,&quot;left&quot;:31.5,&quot;top&quot;:145.25,&quot;width&quot;:879}"/>
</p:tagLst>
</file>

<file path=ppt/tags/tag10.xml><?xml version="1.0" encoding="utf-8"?>
<p:tagLst xmlns:p="http://schemas.openxmlformats.org/presentationml/2006/main">
  <p:tag name="KSO_WM_DIAGRAM_VIRTUALLY_FRAME" val="{&quot;height&quot;:238.5,&quot;left&quot;:31.5,&quot;top&quot;:145.25,&quot;width&quot;:879}"/>
</p:tagLst>
</file>

<file path=ppt/tags/tag11.xml><?xml version="1.0" encoding="utf-8"?>
<p:tagLst xmlns:p="http://schemas.openxmlformats.org/presentationml/2006/main">
  <p:tag name="KSO_WM_DIAGRAM_VIRTUALLY_FRAME" val="{&quot;height&quot;:238.5,&quot;left&quot;:31.5,&quot;top&quot;:145.25,&quot;width&quot;:879}"/>
</p:tagLst>
</file>

<file path=ppt/tags/tag12.xml><?xml version="1.0" encoding="utf-8"?>
<p:tagLst xmlns:p="http://schemas.openxmlformats.org/presentationml/2006/main">
  <p:tag name="KSO_WM_DIAGRAM_VIRTUALLY_FRAME" val="{&quot;height&quot;:238.5,&quot;left&quot;:31.5,&quot;top&quot;:145.25,&quot;width&quot;:879}"/>
</p:tagLst>
</file>

<file path=ppt/tags/tag13.xml><?xml version="1.0" encoding="utf-8"?>
<p:tagLst xmlns:p="http://schemas.openxmlformats.org/presentationml/2006/main">
  <p:tag name="KSO_WM_DIAGRAM_VIRTUALLY_FRAME" val="{&quot;height&quot;:238.5,&quot;left&quot;:31.5,&quot;top&quot;:145.25,&quot;width&quot;:879}"/>
</p:tagLst>
</file>

<file path=ppt/tags/tag14.xml><?xml version="1.0" encoding="utf-8"?>
<p:tagLst xmlns:p="http://schemas.openxmlformats.org/presentationml/2006/main">
  <p:tag name="KSO_WM_DIAGRAM_VIRTUALLY_FRAME" val="{&quot;height&quot;:238.5,&quot;left&quot;:31.5,&quot;top&quot;:145.25,&quot;width&quot;:879}"/>
</p:tagLst>
</file>

<file path=ppt/tags/tag15.xml><?xml version="1.0" encoding="utf-8"?>
<p:tagLst xmlns:p="http://schemas.openxmlformats.org/presentationml/2006/main">
  <p:tag name="KSO_WM_DIAGRAM_VIRTUALLY_FRAME" val="{&quot;height&quot;:238.5,&quot;left&quot;:31.5,&quot;top&quot;:145.25,&quot;width&quot;:879}"/>
</p:tagLst>
</file>

<file path=ppt/tags/tag16.xml><?xml version="1.0" encoding="utf-8"?>
<p:tagLst xmlns:p="http://schemas.openxmlformats.org/presentationml/2006/main">
  <p:tag name="KSO_WM_DIAGRAM_VIRTUALLY_FRAME" val="{&quot;height&quot;:238.5,&quot;left&quot;:31.5,&quot;top&quot;:145.25,&quot;width&quot;:879}"/>
</p:tagLst>
</file>

<file path=ppt/tags/tag17.xml><?xml version="1.0" encoding="utf-8"?>
<p:tagLst xmlns:p="http://schemas.openxmlformats.org/presentationml/2006/main">
  <p:tag name="KSO_WM_DIAGRAM_VIRTUALLY_FRAME" val="{&quot;height&quot;:238.5,&quot;left&quot;:31.5,&quot;top&quot;:145.25,&quot;width&quot;:879}"/>
</p:tagLst>
</file>

<file path=ppt/tags/tag18.xml><?xml version="1.0" encoding="utf-8"?>
<p:tagLst xmlns:p="http://schemas.openxmlformats.org/presentationml/2006/main">
  <p:tag name="KSO_WM_DIAGRAM_VIRTUALLY_FRAME" val="{&quot;height&quot;:238.5,&quot;left&quot;:31.5,&quot;top&quot;:145.25,&quot;width&quot;:879}"/>
</p:tagLst>
</file>

<file path=ppt/tags/tag19.xml><?xml version="1.0" encoding="utf-8"?>
<p:tagLst xmlns:p="http://schemas.openxmlformats.org/presentationml/2006/main">
  <p:tag name="KSO_WM_DIAGRAM_VIRTUALLY_FRAME" val="{&quot;height&quot;:231.45,&quot;left&quot;:482,&quot;top&quot;:129.95,&quot;width&quot;:412.5}"/>
</p:tagLst>
</file>

<file path=ppt/tags/tag20.xml><?xml version="1.0" encoding="utf-8"?>
<p:tagLst xmlns:p="http://schemas.openxmlformats.org/presentationml/2006/main">
  <p:tag name="KSO_WM_DIAGRAM_VIRTUALLY_FRAME" val="{&quot;height&quot;:231.45,&quot;left&quot;:482,&quot;top&quot;:129.95,&quot;width&quot;:412.5}"/>
</p:tagLst>
</file>

<file path=ppt/tags/tag21.xml><?xml version="1.0" encoding="utf-8"?>
<p:tagLst xmlns:p="http://schemas.openxmlformats.org/presentationml/2006/main">
  <p:tag name="KSO_WM_DIAGRAM_VIRTUALLY_FRAME" val="{&quot;height&quot;:231.45,&quot;left&quot;:482,&quot;top&quot;:129.95,&quot;width&quot;:412.5}"/>
</p:tagLst>
</file>

<file path=ppt/tags/tag22.xml><?xml version="1.0" encoding="utf-8"?>
<p:tagLst xmlns:p="http://schemas.openxmlformats.org/presentationml/2006/main">
  <p:tag name="KSO_WM_DIAGRAM_VIRTUALLY_FRAME" val="{&quot;height&quot;:231.45,&quot;left&quot;:482,&quot;top&quot;:129.95,&quot;width&quot;:412.5}"/>
</p:tagLst>
</file>

<file path=ppt/tags/tag23.xml><?xml version="1.0" encoding="utf-8"?>
<p:tagLst xmlns:p="http://schemas.openxmlformats.org/presentationml/2006/main">
  <p:tag name="KSO_WM_DIAGRAM_VIRTUALLY_FRAME" val="{&quot;height&quot;:231.45,&quot;left&quot;:482,&quot;top&quot;:129.95,&quot;width&quot;:412.5}"/>
</p:tagLst>
</file>

<file path=ppt/tags/tag24.xml><?xml version="1.0" encoding="utf-8"?>
<p:tagLst xmlns:p="http://schemas.openxmlformats.org/presentationml/2006/main">
  <p:tag name="KSO_WM_DIAGRAM_VIRTUALLY_FRAME" val="{&quot;height&quot;:231.45,&quot;left&quot;:482,&quot;top&quot;:129.95,&quot;width&quot;:412.5}"/>
</p:tagLst>
</file>

<file path=ppt/tags/tag25.xml><?xml version="1.0" encoding="utf-8"?>
<p:tagLst xmlns:p="http://schemas.openxmlformats.org/presentationml/2006/main">
  <p:tag name="KSO_WM_DIAGRAM_VIRTUALLY_FRAME" val="{&quot;height&quot;:231.45,&quot;left&quot;:482,&quot;top&quot;:129.95,&quot;width&quot;:412.5}"/>
</p:tagLst>
</file>

<file path=ppt/tags/tag26.xml><?xml version="1.0" encoding="utf-8"?>
<p:tagLst xmlns:p="http://schemas.openxmlformats.org/presentationml/2006/main">
  <p:tag name="KSO_WM_DIAGRAM_VIRTUALLY_FRAME" val="{&quot;height&quot;:231.45,&quot;left&quot;:482,&quot;top&quot;:129.95,&quot;width&quot;:412.5}"/>
</p:tagLst>
</file>

<file path=ppt/tags/tag27.xml><?xml version="1.0" encoding="utf-8"?>
<p:tagLst xmlns:p="http://schemas.openxmlformats.org/presentationml/2006/main">
  <p:tag name="KSO_WM_DIAGRAM_VIRTUALLY_FRAME" val="{&quot;height&quot;:231.45,&quot;left&quot;:482,&quot;top&quot;:129.95,&quot;width&quot;:412.5}"/>
</p:tagLst>
</file>

<file path=ppt/tags/tag28.xml><?xml version="1.0" encoding="utf-8"?>
<p:tagLst xmlns:p="http://schemas.openxmlformats.org/presentationml/2006/main">
  <p:tag name="KSO_WM_DIAGRAM_VIRTUALLY_FRAME" val="{&quot;height&quot;:288.45,&quot;left&quot;:28.2,&quot;top&quot;:122.55,&quot;width&quot;:880.8}"/>
</p:tagLst>
</file>

<file path=ppt/tags/tag29.xml><?xml version="1.0" encoding="utf-8"?>
<p:tagLst xmlns:p="http://schemas.openxmlformats.org/presentationml/2006/main">
  <p:tag name="KSO_WM_DIAGRAM_VIRTUALLY_FRAME" val="{&quot;height&quot;:288.45,&quot;left&quot;:28.2,&quot;top&quot;:122.55,&quot;width&quot;:880.8}"/>
</p:tagLst>
</file>

<file path=ppt/tags/tag30.xml><?xml version="1.0" encoding="utf-8"?>
<p:tagLst xmlns:p="http://schemas.openxmlformats.org/presentationml/2006/main">
  <p:tag name="KSO_WM_DIAGRAM_VIRTUALLY_FRAME" val="{&quot;height&quot;:288.45,&quot;left&quot;:28.2,&quot;top&quot;:122.55,&quot;width&quot;:880.8}"/>
</p:tagLst>
</file>

<file path=ppt/tags/tag31.xml><?xml version="1.0" encoding="utf-8"?>
<p:tagLst xmlns:p="http://schemas.openxmlformats.org/presentationml/2006/main">
  <p:tag name="KSO_WM_DIAGRAM_VIRTUALLY_FRAME" val="{&quot;height&quot;:288.45,&quot;left&quot;:28.2,&quot;top&quot;:122.55,&quot;width&quot;:880.8}"/>
</p:tagLst>
</file>

<file path=ppt/tags/tag32.xml><?xml version="1.0" encoding="utf-8"?>
<p:tagLst xmlns:p="http://schemas.openxmlformats.org/presentationml/2006/main">
  <p:tag name="KSO_WM_DIAGRAM_VIRTUALLY_FRAME" val="{&quot;height&quot;:288.45,&quot;left&quot;:28.2,&quot;top&quot;:122.55,&quot;width&quot;:880.8}"/>
</p:tagLst>
</file>

<file path=ppt/tags/tag33.xml><?xml version="1.0" encoding="utf-8"?>
<p:tagLst xmlns:p="http://schemas.openxmlformats.org/presentationml/2006/main">
  <p:tag name="KSO_WM_DIAGRAM_VIRTUALLY_FRAME" val="{&quot;height&quot;:288.45,&quot;left&quot;:28.2,&quot;top&quot;:122.55,&quot;width&quot;:880.8}"/>
</p:tagLst>
</file>

<file path=ppt/tags/tag34.xml><?xml version="1.0" encoding="utf-8"?>
<p:tagLst xmlns:p="http://schemas.openxmlformats.org/presentationml/2006/main">
  <p:tag name="KSO_WM_DIAGRAM_VIRTUALLY_FRAME" val="{&quot;height&quot;:288.45,&quot;left&quot;:28.2,&quot;top&quot;:122.55,&quot;width&quot;:880.8}"/>
</p:tagLst>
</file>

<file path=ppt/tags/tag35.xml><?xml version="1.0" encoding="utf-8"?>
<p:tagLst xmlns:p="http://schemas.openxmlformats.org/presentationml/2006/main">
  <p:tag name="KSO_WM_DIAGRAM_VIRTUALLY_FRAME" val="{&quot;height&quot;:288.45,&quot;left&quot;:28.2,&quot;top&quot;:122.55,&quot;width&quot;:880.8}"/>
</p:tagLst>
</file>

<file path=ppt/tags/tag36.xml><?xml version="1.0" encoding="utf-8"?>
<p:tagLst xmlns:p="http://schemas.openxmlformats.org/presentationml/2006/main">
  <p:tag name="KSO_WM_DIAGRAM_VIRTUALLY_FRAME" val="{&quot;height&quot;:288.45,&quot;left&quot;:28.2,&quot;top&quot;:122.55,&quot;width&quot;:880.8}"/>
</p:tagLst>
</file>

<file path=ppt/tags/tag37.xml><?xml version="1.0" encoding="utf-8"?>
<p:tagLst xmlns:p="http://schemas.openxmlformats.org/presentationml/2006/main">
  <p:tag name="KSO_WM_DIAGRAM_VIRTUALLY_FRAME" val="{&quot;height&quot;:288.45,&quot;left&quot;:28.2,&quot;top&quot;:122.55,&quot;width&quot;:880.8}"/>
</p:tagLst>
</file>

<file path=ppt/tags/tag38.xml><?xml version="1.0" encoding="utf-8"?>
<p:tagLst xmlns:p="http://schemas.openxmlformats.org/presentationml/2006/main">
  <p:tag name="KSO_WM_DIAGRAM_VIRTUALLY_FRAME" val="{&quot;height&quot;:288.45,&quot;left&quot;:28.2,&quot;top&quot;:122.55,&quot;width&quot;:880.8}"/>
</p:tagLst>
</file>

<file path=ppt/tags/tag39.xml><?xml version="1.0" encoding="utf-8"?>
<p:tagLst xmlns:p="http://schemas.openxmlformats.org/presentationml/2006/main">
  <p:tag name="KSO_WM_DIAGRAM_VIRTUALLY_FRAME" val="{&quot;height&quot;:288.45,&quot;left&quot;:28.2,&quot;top&quot;:122.55,&quot;width&quot;:880.8}"/>
</p:tagLst>
</file>

<file path=ppt/tags/tag40.xml><?xml version="1.0" encoding="utf-8"?>
<p:tagLst xmlns:p="http://schemas.openxmlformats.org/presentationml/2006/main">
  <p:tag name="KSO_WM_DIAGRAM_VIRTUALLY_FRAME" val="{&quot;height&quot;:288.45,&quot;left&quot;:28.2,&quot;top&quot;:122.55,&quot;width&quot;:880.8}"/>
</p:tagLst>
</file>

<file path=ppt/tags/tag41.xml><?xml version="1.0" encoding="utf-8"?>
<p:tagLst xmlns:p="http://schemas.openxmlformats.org/presentationml/2006/main">
  <p:tag name="KSO_WM_DIAGRAM_VIRTUALLY_FRAME" val="{&quot;height&quot;:288.45,&quot;left&quot;:28.2,&quot;top&quot;:122.55,&quot;width&quot;:880.8}"/>
</p:tagLst>
</file>

<file path=ppt/tags/tag42.xml><?xml version="1.0" encoding="utf-8"?>
<p:tagLst xmlns:p="http://schemas.openxmlformats.org/presentationml/2006/main">
  <p:tag name="KSO_WM_DIAGRAM_VIRTUALLY_FRAME" val="{&quot;height&quot;:288.45,&quot;left&quot;:28.2,&quot;top&quot;:122.55,&quot;width&quot;:880.8}"/>
</p:tagLst>
</file>

<file path=ppt/tags/tag43.xml><?xml version="1.0" encoding="utf-8"?>
<p:tagLst xmlns:p="http://schemas.openxmlformats.org/presentationml/2006/main">
  <p:tag name="KSO_WM_DIAGRAM_VIRTUALLY_FRAME" val="{&quot;height&quot;:288.45,&quot;left&quot;:28.2,&quot;top&quot;:122.55,&quot;width&quot;:880.8}"/>
</p:tagLst>
</file>

<file path=ppt/tags/tag44.xml><?xml version="1.0" encoding="utf-8"?>
<p:tagLst xmlns:p="http://schemas.openxmlformats.org/presentationml/2006/main">
  <p:tag name="KSO_WM_DIAGRAM_VIRTUALLY_FRAME" val="{&quot;height&quot;:294,&quot;left&quot;:31.5,&quot;top&quot;:135,&quot;width&quot;:880.5}"/>
</p:tagLst>
</file>

<file path=ppt/tags/tag45.xml><?xml version="1.0" encoding="utf-8"?>
<p:tagLst xmlns:p="http://schemas.openxmlformats.org/presentationml/2006/main">
  <p:tag name="KSO_WM_DIAGRAM_VIRTUALLY_FRAME" val="{&quot;height&quot;:294,&quot;left&quot;:31.5,&quot;top&quot;:135,&quot;width&quot;:880.5}"/>
</p:tagLst>
</file>

<file path=ppt/tags/tag46.xml><?xml version="1.0" encoding="utf-8"?>
<p:tagLst xmlns:p="http://schemas.openxmlformats.org/presentationml/2006/main">
  <p:tag name="KSO_WM_DIAGRAM_VIRTUALLY_FRAME" val="{&quot;height&quot;:294,&quot;left&quot;:31.5,&quot;top&quot;:135,&quot;width&quot;:880.5}"/>
</p:tagLst>
</file>

<file path=ppt/tags/tag47.xml><?xml version="1.0" encoding="utf-8"?>
<p:tagLst xmlns:p="http://schemas.openxmlformats.org/presentationml/2006/main">
  <p:tag name="KSO_WM_DIAGRAM_VIRTUALLY_FRAME" val="{&quot;height&quot;:294,&quot;left&quot;:31.5,&quot;top&quot;:135,&quot;width&quot;:880.5}"/>
</p:tagLst>
</file>

<file path=ppt/tags/tag48.xml><?xml version="1.0" encoding="utf-8"?>
<p:tagLst xmlns:p="http://schemas.openxmlformats.org/presentationml/2006/main">
  <p:tag name="KSO_WM_DIAGRAM_VIRTUALLY_FRAME" val="{&quot;height&quot;:294,&quot;left&quot;:31.5,&quot;top&quot;:135,&quot;width&quot;:880.5}"/>
</p:tagLst>
</file>

<file path=ppt/tags/tag49.xml><?xml version="1.0" encoding="utf-8"?>
<p:tagLst xmlns:p="http://schemas.openxmlformats.org/presentationml/2006/main">
  <p:tag name="KSO_WM_DIAGRAM_VIRTUALLY_FRAME" val="{&quot;height&quot;:294,&quot;left&quot;:31.5,&quot;top&quot;:135,&quot;width&quot;:880.5}"/>
</p:tagLst>
</file>

<file path=ppt/tags/tag50.xml><?xml version="1.0" encoding="utf-8"?>
<p:tagLst xmlns:p="http://schemas.openxmlformats.org/presentationml/2006/main">
  <p:tag name="KSO_WM_DIAGRAM_VIRTUALLY_FRAME" val="{&quot;height&quot;:294,&quot;left&quot;:31.5,&quot;top&quot;:135,&quot;width&quot;:880.5}"/>
</p:tagLst>
</file>

<file path=ppt/tags/tag51.xml><?xml version="1.0" encoding="utf-8"?>
<p:tagLst xmlns:p="http://schemas.openxmlformats.org/presentationml/2006/main">
  <p:tag name="KSO_WM_DIAGRAM_VIRTUALLY_FRAME" val="{&quot;height&quot;:294,&quot;left&quot;:31.5,&quot;top&quot;:135,&quot;width&quot;:880.5}"/>
</p:tagLst>
</file>

<file path=ppt/tags/tag52.xml><?xml version="1.0" encoding="utf-8"?>
<p:tagLst xmlns:p="http://schemas.openxmlformats.org/presentationml/2006/main">
  <p:tag name="KSO_WM_DIAGRAM_VIRTUALLY_FRAME" val="{&quot;height&quot;:294,&quot;left&quot;:31.5,&quot;top&quot;:135,&quot;width&quot;:880.5}"/>
</p:tagLst>
</file>

<file path=ppt/tags/tag53.xml><?xml version="1.0" encoding="utf-8"?>
<p:tagLst xmlns:p="http://schemas.openxmlformats.org/presentationml/2006/main">
  <p:tag name="KSO_WM_DIAGRAM_VIRTUALLY_FRAME" val="{&quot;height&quot;:294,&quot;left&quot;:31.5,&quot;top&quot;:135,&quot;width&quot;:880.5}"/>
</p:tagLst>
</file>

<file path=ppt/tags/tag54.xml><?xml version="1.0" encoding="utf-8"?>
<p:tagLst xmlns:p="http://schemas.openxmlformats.org/presentationml/2006/main">
  <p:tag name="KSO_WM_DIAGRAM_VIRTUALLY_FRAME" val="{&quot;height&quot;:294,&quot;left&quot;:31.5,&quot;top&quot;:135,&quot;width&quot;:880.5}"/>
</p:tagLst>
</file>

<file path=ppt/tags/tag55.xml><?xml version="1.0" encoding="utf-8"?>
<p:tagLst xmlns:p="http://schemas.openxmlformats.org/presentationml/2006/main">
  <p:tag name="KSO_WM_DIAGRAM_VIRTUALLY_FRAME" val="{&quot;height&quot;:294,&quot;left&quot;:31.5,&quot;top&quot;:135,&quot;width&quot;:880.5}"/>
</p:tagLst>
</file>

<file path=ppt/tags/tag56.xml><?xml version="1.0" encoding="utf-8"?>
<p:tagLst xmlns:p="http://schemas.openxmlformats.org/presentationml/2006/main">
  <p:tag name="KSO_WM_DIAGRAM_VIRTUALLY_FRAME" val="{&quot;height&quot;:294,&quot;left&quot;:31.5,&quot;top&quot;:135,&quot;width&quot;:880.5}"/>
</p:tagLst>
</file>

<file path=ppt/tags/tag57.xml><?xml version="1.0" encoding="utf-8"?>
<p:tagLst xmlns:p="http://schemas.openxmlformats.org/presentationml/2006/main">
  <p:tag name="KSO_WM_DIAGRAM_VIRTUALLY_FRAME" val="{&quot;height&quot;:294,&quot;left&quot;:31.5,&quot;top&quot;:135,&quot;width&quot;:880.5}"/>
</p:tagLst>
</file>

<file path=ppt/tags/tag58.xml><?xml version="1.0" encoding="utf-8"?>
<p:tagLst xmlns:p="http://schemas.openxmlformats.org/presentationml/2006/main">
  <p:tag name="KSO_WM_DIAGRAM_VIRTUALLY_FRAME" val="{&quot;height&quot;:294,&quot;left&quot;:31.5,&quot;top&quot;:135,&quot;width&quot;:880.5}"/>
</p:tagLst>
</file>

<file path=ppt/tags/tag59.xml><?xml version="1.0" encoding="utf-8"?>
<p:tagLst xmlns:p="http://schemas.openxmlformats.org/presentationml/2006/main">
  <p:tag name="KSO_WM_DIAGRAM_VIRTUALLY_FRAME" val="{&quot;height&quot;:294,&quot;left&quot;:31.5,&quot;top&quot;:135,&quot;width&quot;:880.5}"/>
</p:tagLst>
</file>

<file path=ppt/tags/tag60.xml><?xml version="1.0" encoding="utf-8"?>
<p:tagLst xmlns:p="http://schemas.openxmlformats.org/presentationml/2006/main">
  <p:tag name="KSO_WM_DIAGRAM_VIRTUALLY_FRAME" val="{&quot;height&quot;:294,&quot;left&quot;:31.5,&quot;top&quot;:135,&quot;width&quot;:880.5}"/>
</p:tagLst>
</file>

<file path=ppt/tags/tag61.xml><?xml version="1.0" encoding="utf-8"?>
<p:tagLst xmlns:p="http://schemas.openxmlformats.org/presentationml/2006/main">
  <p:tag name="KSO_WM_DIAGRAM_VIRTUALLY_FRAME" val="{&quot;height&quot;:294,&quot;left&quot;:31.5,&quot;top&quot;:135,&quot;width&quot;:880.5}"/>
</p:tagLst>
</file>

<file path=ppt/tags/tag62.xml><?xml version="1.0" encoding="utf-8"?>
<p:tagLst xmlns:p="http://schemas.openxmlformats.org/presentationml/2006/main">
  <p:tag name="KSO_WM_DIAGRAM_VIRTUALLY_FRAME" val="{&quot;height&quot;:294,&quot;left&quot;:31.5,&quot;top&quot;:135,&quot;width&quot;:880.5}"/>
</p:tagLst>
</file>

<file path=ppt/tags/tag63.xml><?xml version="1.0" encoding="utf-8"?>
<p:tagLst xmlns:p="http://schemas.openxmlformats.org/presentationml/2006/main">
  <p:tag name="KSO_WM_DIAGRAM_VIRTUALLY_FRAME" val="{&quot;height&quot;:294,&quot;left&quot;:31.5,&quot;top&quot;:135,&quot;width&quot;:880.5}"/>
</p:tagLst>
</file>

<file path=ppt/tags/tag64.xml><?xml version="1.0" encoding="utf-8"?>
<p:tagLst xmlns:p="http://schemas.openxmlformats.org/presentationml/2006/main">
  <p:tag name="KSO_WM_DIAGRAM_VIRTUALLY_FRAME" val="{&quot;height&quot;:294,&quot;left&quot;:31.5,&quot;top&quot;:135,&quot;width&quot;:880.5}"/>
</p:tagLst>
</file>

<file path=ppt/tags/tag65.xml><?xml version="1.0" encoding="utf-8"?>
<p:tagLst xmlns:p="http://schemas.openxmlformats.org/presentationml/2006/main">
  <p:tag name="KSO_WM_DIAGRAM_VIRTUALLY_FRAME" val="{&quot;height&quot;:294,&quot;left&quot;:31.5,&quot;top&quot;:135,&quot;width&quot;:880.5}"/>
</p:tagLst>
</file>

<file path=ppt/tags/tag66.xml><?xml version="1.0" encoding="utf-8"?>
<p:tagLst xmlns:p="http://schemas.openxmlformats.org/presentationml/2006/main">
  <p:tag name="KSO_WM_DIAGRAM_VIRTUALLY_FRAME" val="{&quot;height&quot;:294,&quot;left&quot;:31.5,&quot;top&quot;:135,&quot;width&quot;:880.5}"/>
</p:tagLst>
</file>

<file path=ppt/tags/tag67.xml><?xml version="1.0" encoding="utf-8"?>
<p:tagLst xmlns:p="http://schemas.openxmlformats.org/presentationml/2006/main">
  <p:tag name="KSO_WM_DIAGRAM_VIRTUALLY_FRAME" val="{&quot;height&quot;:294,&quot;left&quot;:31.5,&quot;top&quot;:135,&quot;width&quot;:880.5}"/>
</p:tagLst>
</file>

<file path=ppt/tags/tag68.xml><?xml version="1.0" encoding="utf-8"?>
<p:tagLst xmlns:p="http://schemas.openxmlformats.org/presentationml/2006/main">
  <p:tag name="KSO_WM_DIAGRAM_VIRTUALLY_FRAME" val="{&quot;height&quot;:207,&quot;left&quot;:31.5,&quot;top&quot;:184.5,&quot;width&quot;:897}"/>
</p:tagLst>
</file>

<file path=ppt/tags/tag69.xml><?xml version="1.0" encoding="utf-8"?>
<p:tagLst xmlns:p="http://schemas.openxmlformats.org/presentationml/2006/main">
  <p:tag name="KSO_WM_DIAGRAM_VIRTUALLY_FRAME" val="{&quot;height&quot;:207,&quot;left&quot;:31.5,&quot;top&quot;:184.5,&quot;width&quot;:897}"/>
</p:tagLst>
</file>

<file path=ppt/tags/tag70.xml><?xml version="1.0" encoding="utf-8"?>
<p:tagLst xmlns:p="http://schemas.openxmlformats.org/presentationml/2006/main">
  <p:tag name="KSO_WM_DIAGRAM_VIRTUALLY_FRAME" val="{&quot;height&quot;:207,&quot;left&quot;:31.5,&quot;top&quot;:184.5,&quot;width&quot;:897}"/>
</p:tagLst>
</file>

<file path=ppt/tags/tag71.xml><?xml version="1.0" encoding="utf-8"?>
<p:tagLst xmlns:p="http://schemas.openxmlformats.org/presentationml/2006/main">
  <p:tag name="KSO_WM_DIAGRAM_VIRTUALLY_FRAME" val="{&quot;height&quot;:207,&quot;left&quot;:31.5,&quot;top&quot;:184.5,&quot;width&quot;:897}"/>
</p:tagLst>
</file>

<file path=ppt/tags/tag72.xml><?xml version="1.0" encoding="utf-8"?>
<p:tagLst xmlns:p="http://schemas.openxmlformats.org/presentationml/2006/main">
  <p:tag name="KSO_WM_DIAGRAM_VIRTUALLY_FRAME" val="{&quot;height&quot;:207,&quot;left&quot;:31.5,&quot;top&quot;:184.5,&quot;width&quot;:897}"/>
</p:tagLst>
</file>

<file path=ppt/tags/tag73.xml><?xml version="1.0" encoding="utf-8"?>
<p:tagLst xmlns:p="http://schemas.openxmlformats.org/presentationml/2006/main">
  <p:tag name="KSO_WM_DIAGRAM_VIRTUALLY_FRAME" val="{&quot;height&quot;:207,&quot;left&quot;:31.5,&quot;top&quot;:184.5,&quot;width&quot;:897}"/>
</p:tagLst>
</file>

<file path=ppt/tags/tag74.xml><?xml version="1.0" encoding="utf-8"?>
<p:tagLst xmlns:p="http://schemas.openxmlformats.org/presentationml/2006/main">
  <p:tag name="KSO_WM_DIAGRAM_VIRTUALLY_FRAME" val="{&quot;height&quot;:207,&quot;left&quot;:31.5,&quot;top&quot;:184.5,&quot;width&quot;:897}"/>
</p:tagLst>
</file>

<file path=ppt/tags/tag75.xml><?xml version="1.0" encoding="utf-8"?>
<p:tagLst xmlns:p="http://schemas.openxmlformats.org/presentationml/2006/main">
  <p:tag name="KSO_WM_DIAGRAM_VIRTUALLY_FRAME" val="{&quot;height&quot;:207,&quot;left&quot;:31.5,&quot;top&quot;:184.5,&quot;width&quot;:897}"/>
</p:tagLst>
</file>

<file path=ppt/tags/tag76.xml><?xml version="1.0" encoding="utf-8"?>
<p:tagLst xmlns:p="http://schemas.openxmlformats.org/presentationml/2006/main">
  <p:tag name="KSO_WM_DIAGRAM_VIRTUALLY_FRAME" val="{&quot;height&quot;:258.75,&quot;left&quot;:592.5,&quot;top&quot;:133.5,&quot;width&quot;:315}"/>
</p:tagLst>
</file>

<file path=ppt/tags/tag77.xml><?xml version="1.0" encoding="utf-8"?>
<p:tagLst xmlns:p="http://schemas.openxmlformats.org/presentationml/2006/main">
  <p:tag name="KSO_WM_DIAGRAM_VIRTUALLY_FRAME" val="{&quot;height&quot;:258.75,&quot;left&quot;:592.5,&quot;top&quot;:133.5,&quot;width&quot;:315}"/>
</p:tagLst>
</file>

<file path=ppt/tags/tag78.xml><?xml version="1.0" encoding="utf-8"?>
<p:tagLst xmlns:p="http://schemas.openxmlformats.org/presentationml/2006/main">
  <p:tag name="KSO_WM_DIAGRAM_VIRTUALLY_FRAME" val="{&quot;height&quot;:258.75,&quot;left&quot;:592.5,&quot;top&quot;:133.5,&quot;width&quot;:315}"/>
</p:tagLst>
</file>

<file path=ppt/tags/tag79.xml><?xml version="1.0" encoding="utf-8"?>
<p:tagLst xmlns:p="http://schemas.openxmlformats.org/presentationml/2006/main">
  <p:tag name="KSO_WM_DIAGRAM_VIRTUALLY_FRAME" val="{&quot;height&quot;:258.75,&quot;left&quot;:592.5,&quot;top&quot;:133.5,&quot;width&quot;:315}"/>
</p:tagLst>
</file>

<file path=ppt/tags/tag80.xml><?xml version="1.0" encoding="utf-8"?>
<p:tagLst xmlns:p="http://schemas.openxmlformats.org/presentationml/2006/main">
  <p:tag name="KSO_WM_DIAGRAM_VIRTUALLY_FRAME" val="{&quot;height&quot;:258.75,&quot;left&quot;:592.5,&quot;top&quot;:133.5,&quot;width&quot;:315}"/>
</p:tagLst>
</file>

<file path=ppt/tags/tag81.xml><?xml version="1.0" encoding="utf-8"?>
<p:tagLst xmlns:p="http://schemas.openxmlformats.org/presentationml/2006/main">
  <p:tag name="KSO_WM_DIAGRAM_VIRTUALLY_FRAME" val="{&quot;height&quot;:258.75,&quot;left&quot;:592.5,&quot;top&quot;:133.5,&quot;width&quot;:315}"/>
</p:tagLst>
</file>

<file path=ppt/tags/tag82.xml><?xml version="1.0" encoding="utf-8"?>
<p:tagLst xmlns:p="http://schemas.openxmlformats.org/presentationml/2006/main">
  <p:tag name="KSO_WM_DIAGRAM_VIRTUALLY_FRAME" val="{&quot;height&quot;:258.75,&quot;left&quot;:592.5,&quot;top&quot;:133.5,&quot;width&quot;:315}"/>
</p:tagLst>
</file>

<file path=ppt/tags/tag83.xml><?xml version="1.0" encoding="utf-8"?>
<p:tagLst xmlns:p="http://schemas.openxmlformats.org/presentationml/2006/main">
  <p:tag name="KSO_WM_DIAGRAM_VIRTUALLY_FRAME" val="{&quot;height&quot;:258.75,&quot;left&quot;:592.5,&quot;top&quot;:133.5,&quot;width&quot;:315}"/>
</p:tagLst>
</file>

<file path=ppt/tags/tag84.xml><?xml version="1.0" encoding="utf-8"?>
<p:tagLst xmlns:p="http://schemas.openxmlformats.org/presentationml/2006/main">
  <p:tag name="KSO_WM_DIAGRAM_VIRTUALLY_FRAME" val="{&quot;height&quot;:258.75,&quot;left&quot;:592.5,&quot;top&quot;:133.5,&quot;width&quot;:31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7042</Words>
  <Application>WPS 演示</Application>
  <PresentationFormat>Converted Presentation</PresentationFormat>
  <Paragraphs>498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Cambria Math</vt:lpstr>
      <vt:lpstr>Wingdings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棋子</cp:lastModifiedBy>
  <cp:revision>21</cp:revision>
  <dcterms:created xsi:type="dcterms:W3CDTF">2026-08-04T09:43:00Z</dcterms:created>
  <dcterms:modified xsi:type="dcterms:W3CDTF">2026-08-05T03:52:29Z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EC3885BD23A4476AA01A99919C6830AB_12</vt:lpwstr>
  </property>
</Properties>
</file>